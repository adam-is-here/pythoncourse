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  <p:sldMasterId id="2147483672" r:id="rId2"/>
  </p:sldMasterIdLst>
  <p:notesMasterIdLst>
    <p:notesMasterId r:id="rId35"/>
  </p:notesMasterIdLst>
  <p:sldIdLst>
    <p:sldId id="256" r:id="rId3"/>
    <p:sldId id="257" r:id="rId4"/>
    <p:sldId id="268" r:id="rId5"/>
    <p:sldId id="269" r:id="rId6"/>
    <p:sldId id="270" r:id="rId7"/>
    <p:sldId id="271" r:id="rId8"/>
    <p:sldId id="29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58" r:id="rId26"/>
    <p:sldId id="288" r:id="rId27"/>
    <p:sldId id="264" r:id="rId28"/>
    <p:sldId id="265" r:id="rId29"/>
    <p:sldId id="266" r:id="rId30"/>
    <p:sldId id="289" r:id="rId31"/>
    <p:sldId id="290" r:id="rId32"/>
    <p:sldId id="267" r:id="rId33"/>
    <p:sldId id="263" r:id="rId34"/>
  </p:sldIdLst>
  <p:sldSz cx="9144000" cy="5143500" type="screen16x9"/>
  <p:notesSz cx="6858000" cy="9144000"/>
  <p:custDataLst>
    <p:tags r:id="rId3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">
          <p15:clr>
            <a:srgbClr val="A4A3A4"/>
          </p15:clr>
        </p15:guide>
        <p15:guide id="2" orient="horz" pos="2825">
          <p15:clr>
            <a:srgbClr val="A4A3A4"/>
          </p15:clr>
        </p15:guide>
        <p15:guide id="3" orient="horz" pos="618">
          <p15:clr>
            <a:srgbClr val="A4A3A4"/>
          </p15:clr>
        </p15:guide>
        <p15:guide id="4" orient="horz" pos="89">
          <p15:clr>
            <a:srgbClr val="A4A3A4"/>
          </p15:clr>
        </p15:guide>
        <p15:guide id="5" pos="192">
          <p15:clr>
            <a:srgbClr val="A4A3A4"/>
          </p15:clr>
        </p15:guide>
        <p15:guide id="6" pos="5576">
          <p15:clr>
            <a:srgbClr val="A4A3A4"/>
          </p15:clr>
        </p15:guide>
        <p15:guide id="7" pos="1379">
          <p15:clr>
            <a:srgbClr val="A4A3A4"/>
          </p15:clr>
        </p15:guide>
        <p15:guide id="8" orient="horz" pos="491">
          <p15:clr>
            <a:srgbClr val="A4A3A4"/>
          </p15:clr>
        </p15:guide>
        <p15:guide id="9" pos="132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1A1"/>
    <a:srgbClr val="D1D8DD"/>
    <a:srgbClr val="189A82"/>
    <a:srgbClr val="EBEEF1"/>
    <a:srgbClr val="E4E8EC"/>
    <a:srgbClr val="D5DBE1"/>
    <a:srgbClr val="D3AF07"/>
    <a:srgbClr val="AA8F06"/>
    <a:srgbClr val="000000"/>
    <a:srgbClr val="3B5E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סגנון ביניים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סגנון ביניים 2 - הדגשה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סגנון ביניים 2 - הדגשה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34" autoAdjust="0"/>
    <p:restoredTop sz="98734" autoAdjust="0"/>
  </p:normalViewPr>
  <p:slideViewPr>
    <p:cSldViewPr snapToGrid="0">
      <p:cViewPr varScale="1">
        <p:scale>
          <a:sx n="149" d="100"/>
          <a:sy n="149" d="100"/>
        </p:scale>
        <p:origin x="126" y="462"/>
      </p:cViewPr>
      <p:guideLst>
        <p:guide orient="horz" pos="408"/>
        <p:guide orient="horz" pos="2825"/>
        <p:guide orient="horz" pos="618"/>
        <p:guide orient="horz" pos="89"/>
        <p:guide pos="192"/>
        <p:guide pos="5576"/>
        <p:guide pos="1379"/>
        <p:guide orient="horz" pos="491"/>
        <p:guide pos="132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56F7BA-4CD1-4AC3-9F10-2653C874E9BB}" type="datetimeFigureOut">
              <a:rPr lang="en-US" smtClean="0"/>
              <a:t>3/12/2019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29724C-92B4-4293-ABCB-FBA9672B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98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 smtClean="0"/>
              <a:t>כאן נדבר את הקוד, נראה שכל הערכים בשמות לא </a:t>
            </a:r>
            <a:r>
              <a:rPr lang="he-IL" smtClean="0"/>
              <a:t>נכנסים לתנאי.</a:t>
            </a:r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9724C-92B4-4293-ABCB-FBA9672B35F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467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4412536" y="2674195"/>
            <a:ext cx="4194000" cy="449736"/>
          </a:xfrm>
        </p:spPr>
        <p:txBody>
          <a:bodyPr lIns="0" rIns="0" bIns="0" anchor="ctr" anchorCtr="0">
            <a:noAutofit/>
          </a:bodyPr>
          <a:lstStyle>
            <a:lvl1pPr algn="r" rtl="1">
              <a:defRPr sz="2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he-IL" smtClean="0"/>
              <a:t>לחץ לעריכת שם המצגת</a:t>
            </a:r>
            <a:endParaRPr lang="en-US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12535" y="3042608"/>
            <a:ext cx="4194000" cy="447210"/>
          </a:xfrm>
        </p:spPr>
        <p:txBody>
          <a:bodyPr lIns="0" tIns="0" rIns="0" bIns="0" anchor="ctr" anchorCtr="0">
            <a:noAutofit/>
          </a:bodyPr>
          <a:lstStyle>
            <a:lvl1pPr marL="0" indent="0" algn="r" rtl="1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לעריכת כותרת משנה/תאריך</a:t>
            </a:r>
            <a:endParaRPr lang="en-US"/>
          </a:p>
        </p:txBody>
      </p:sp>
      <p:grpSp>
        <p:nvGrpSpPr>
          <p:cNvPr id="2" name="Group 10"/>
          <p:cNvGrpSpPr/>
          <p:nvPr/>
        </p:nvGrpSpPr>
        <p:grpSpPr>
          <a:xfrm>
            <a:off x="310238" y="3224893"/>
            <a:ext cx="4914906" cy="1428750"/>
            <a:chOff x="485008" y="4311194"/>
            <a:chExt cx="6322750" cy="1921561"/>
          </a:xfrm>
        </p:grpSpPr>
        <p:pic>
          <p:nvPicPr>
            <p:cNvPr id="16" name="Picture 15" descr="עיגול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5008" y="4605836"/>
              <a:ext cx="1194006" cy="1626919"/>
            </a:xfrm>
            <a:prstGeom prst="rect">
              <a:avLst/>
            </a:prstGeom>
          </p:spPr>
        </p:pic>
        <p:pic>
          <p:nvPicPr>
            <p:cNvPr id="17" name="Picture 16" descr="עיגול 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66619" y="4728053"/>
              <a:ext cx="1541139" cy="1028325"/>
            </a:xfrm>
            <a:prstGeom prst="rect">
              <a:avLst/>
            </a:prstGeom>
          </p:spPr>
        </p:pic>
        <p:pic>
          <p:nvPicPr>
            <p:cNvPr id="18" name="Picture 17" descr="TROPHY HV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16506" y="4620551"/>
              <a:ext cx="1853277" cy="1233702"/>
            </a:xfrm>
            <a:prstGeom prst="rect">
              <a:avLst/>
            </a:prstGeom>
          </p:spPr>
        </p:pic>
        <p:pic>
          <p:nvPicPr>
            <p:cNvPr id="19" name="Picture 18" descr="Picture2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32600" y="4311194"/>
              <a:ext cx="1847917" cy="1734448"/>
            </a:xfrm>
            <a:prstGeom prst="rect">
              <a:avLst/>
            </a:prstGeom>
          </p:spPr>
        </p:pic>
      </p:grpSp>
      <p:pic>
        <p:nvPicPr>
          <p:cNvPr id="15" name="Picture 14" descr="כיפת ברזל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0654" y="3243872"/>
            <a:ext cx="784135" cy="106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16153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41764" y="3110613"/>
            <a:ext cx="2223656" cy="1031896"/>
          </a:xfrm>
        </p:spPr>
        <p:txBody>
          <a:bodyPr lIns="0" rIns="0" bIns="0" anchor="t" anchorCtr="0">
            <a:noAutofit/>
          </a:bodyPr>
          <a:lstStyle>
            <a:lvl1pPr algn="r" rtl="1">
              <a:defRPr sz="24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he-IL" smtClean="0"/>
              <a:t>לחץ לעריכת כותרת חוצץ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175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63636" y="3221450"/>
            <a:ext cx="2212663" cy="374647"/>
          </a:xfrm>
        </p:spPr>
        <p:txBody>
          <a:bodyPr lIns="0" rIns="0" bIns="0" anchor="ctr" anchorCtr="0">
            <a:noAutofit/>
          </a:bodyPr>
          <a:lstStyle>
            <a:lvl1pPr algn="ctr" rtl="1">
              <a:defRPr sz="24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he-IL" smtClean="0"/>
              <a:t>לחץ לעריכת כותרת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63635" y="3631421"/>
            <a:ext cx="2212663" cy="372543"/>
          </a:xfrm>
        </p:spPr>
        <p:txBody>
          <a:bodyPr lIns="0" tIns="0" rIns="0" bIns="0" anchor="ctr" anchorCtr="0">
            <a:noAutofit/>
          </a:bodyPr>
          <a:lstStyle>
            <a:lvl1pPr marL="0" indent="0" algn="ctr" rtl="1">
              <a:buNone/>
              <a:defRPr sz="1600" b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לעריכת תת כותרת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92538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74850" y="134360"/>
            <a:ext cx="5083175" cy="638175"/>
          </a:xfrm>
        </p:spPr>
        <p:txBody>
          <a:bodyPr vert="horz" lIns="90000" tIns="45720" rIns="91440" bIns="45720" rtlCol="0" anchor="ctr">
            <a:noAutofit/>
          </a:bodyPr>
          <a:lstStyle>
            <a:lvl1pPr>
              <a:defRPr lang="en-US"/>
            </a:lvl1pPr>
          </a:lstStyle>
          <a:p>
            <a:pPr lvl="0"/>
            <a:r>
              <a:rPr lang="he-IL" smtClean="0"/>
              <a:t>לחץ לעריכת כותרת שקף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981076"/>
            <a:ext cx="8547099" cy="3503612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 smtClean="0"/>
              <a:t>לחץ לעריכת תוכן</a:t>
            </a:r>
            <a:endParaRPr lang="en-US" smtClean="0"/>
          </a:p>
          <a:p>
            <a:pPr lvl="1"/>
            <a:r>
              <a:rPr lang="he-IL" smtClean="0"/>
              <a:t>רמה שנייה</a:t>
            </a:r>
            <a:endParaRPr lang="en-US" smtClean="0"/>
          </a:p>
          <a:p>
            <a:pPr lvl="2"/>
            <a:r>
              <a:rPr lang="he-IL" smtClean="0"/>
              <a:t>רמה שלישית</a:t>
            </a:r>
            <a:endParaRPr lang="en-US" smtClean="0"/>
          </a:p>
          <a:p>
            <a:pPr lvl="3"/>
            <a:r>
              <a:rPr lang="he-IL" smtClean="0"/>
              <a:t>רמה רביעית</a:t>
            </a:r>
            <a:endParaRPr lang="en-US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5171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30400" y="134360"/>
            <a:ext cx="5127624" cy="638175"/>
          </a:xfrm>
        </p:spPr>
        <p:txBody>
          <a:bodyPr vert="horz" lIns="90000" tIns="45720" rIns="91440" bIns="45720" rtlCol="0" anchor="ctr">
            <a:noAutofit/>
          </a:bodyPr>
          <a:lstStyle>
            <a:lvl1pPr>
              <a:defRPr lang="en-US"/>
            </a:lvl1pPr>
          </a:lstStyle>
          <a:p>
            <a:pPr lvl="0"/>
            <a:r>
              <a:rPr lang="he-IL" smtClean="0"/>
              <a:t>לחץ לעריכת כותרת שקף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4800" y="981075"/>
            <a:ext cx="4149724" cy="3503613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 smtClean="0"/>
              <a:t>לחץ לעריכת תוכן</a:t>
            </a:r>
            <a:endParaRPr lang="en-US" smtClean="0"/>
          </a:p>
          <a:p>
            <a:pPr lvl="1"/>
            <a:r>
              <a:rPr lang="he-IL" smtClean="0"/>
              <a:t>רמה שנייה</a:t>
            </a:r>
            <a:endParaRPr lang="en-US" smtClean="0"/>
          </a:p>
          <a:p>
            <a:pPr lvl="2"/>
            <a:r>
              <a:rPr lang="he-IL" smtClean="0"/>
              <a:t>רמה שלישית</a:t>
            </a:r>
            <a:endParaRPr lang="en-US" smtClean="0"/>
          </a:p>
          <a:p>
            <a:pPr lvl="3"/>
            <a:r>
              <a:rPr lang="he-IL" smtClean="0"/>
              <a:t>רמה רביעית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89474" y="981075"/>
            <a:ext cx="4162426" cy="3503613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 smtClean="0"/>
              <a:t>לחץ לעריכת תוכן</a:t>
            </a:r>
            <a:endParaRPr lang="en-US" smtClean="0"/>
          </a:p>
          <a:p>
            <a:pPr lvl="1"/>
            <a:r>
              <a:rPr lang="he-IL" smtClean="0"/>
              <a:t>רמה שנייה</a:t>
            </a:r>
            <a:endParaRPr lang="en-US" smtClean="0"/>
          </a:p>
          <a:p>
            <a:pPr lvl="2"/>
            <a:r>
              <a:rPr lang="he-IL" smtClean="0"/>
              <a:t>רמה שלישית</a:t>
            </a:r>
            <a:endParaRPr lang="en-US" smtClean="0"/>
          </a:p>
          <a:p>
            <a:pPr lvl="3"/>
            <a:r>
              <a:rPr lang="he-IL" smtClean="0"/>
              <a:t>רמה רביעית</a:t>
            </a:r>
            <a:endParaRPr lang="en-US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1847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97873" y="1413453"/>
            <a:ext cx="4158000" cy="3071235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 smtClean="0"/>
              <a:t>לחץ לעריכת תוכן</a:t>
            </a:r>
            <a:endParaRPr lang="en-US" smtClean="0"/>
          </a:p>
          <a:p>
            <a:pPr lvl="1"/>
            <a:r>
              <a:rPr lang="he-IL" smtClean="0"/>
              <a:t>רמה שנייה</a:t>
            </a:r>
            <a:endParaRPr lang="en-US" smtClean="0"/>
          </a:p>
          <a:p>
            <a:pPr lvl="2"/>
            <a:r>
              <a:rPr lang="he-IL" smtClean="0"/>
              <a:t>רמה שלישית</a:t>
            </a:r>
            <a:endParaRPr lang="en-US" smtClean="0"/>
          </a:p>
          <a:p>
            <a:pPr lvl="3"/>
            <a:r>
              <a:rPr lang="he-IL" smtClean="0"/>
              <a:t>רמה רביעית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88127" y="1405913"/>
            <a:ext cx="4158000" cy="3071235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 smtClean="0"/>
              <a:t>לחץ לעריכת תוכן</a:t>
            </a:r>
            <a:endParaRPr lang="en-US" smtClean="0"/>
          </a:p>
          <a:p>
            <a:pPr lvl="1"/>
            <a:r>
              <a:rPr lang="he-IL" smtClean="0"/>
              <a:t>רמה שנייה</a:t>
            </a:r>
            <a:endParaRPr lang="en-US" smtClean="0"/>
          </a:p>
          <a:p>
            <a:pPr lvl="2"/>
            <a:r>
              <a:rPr lang="he-IL" smtClean="0"/>
              <a:t>רמה שלישית</a:t>
            </a:r>
            <a:endParaRPr lang="en-US" smtClean="0"/>
          </a:p>
          <a:p>
            <a:pPr lvl="3"/>
            <a:r>
              <a:rPr lang="he-IL" smtClean="0"/>
              <a:t>רמה רביעית</a:t>
            </a:r>
            <a:endParaRPr lang="en-US" smtClean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30400" y="134360"/>
            <a:ext cx="5120698" cy="638175"/>
          </a:xfrm>
        </p:spPr>
        <p:txBody>
          <a:bodyPr/>
          <a:lstStyle>
            <a:lvl1pPr>
              <a:defRPr/>
            </a:lvl1pPr>
          </a:lstStyle>
          <a:p>
            <a:r>
              <a:rPr lang="he-IL" smtClean="0"/>
              <a:t>לחץ לעריכת כותרת שקף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97873" y="981075"/>
            <a:ext cx="4158000" cy="418306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לעריכת כותרת משנה</a:t>
            </a:r>
            <a:endParaRPr lang="en-US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88127" y="981075"/>
            <a:ext cx="4158000" cy="418306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לעריכת כותרת משנה</a:t>
            </a:r>
            <a:endParaRPr lang="en-US" smtClean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1481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24049" y="127433"/>
            <a:ext cx="5133687" cy="634567"/>
          </a:xfrm>
        </p:spPr>
        <p:txBody>
          <a:bodyPr/>
          <a:lstStyle/>
          <a:p>
            <a:r>
              <a:rPr lang="he-IL" smtClean="0"/>
              <a:t>לחץ לעריכת כותרת שקף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6192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8145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4412536" y="2674195"/>
            <a:ext cx="4194000" cy="449736"/>
          </a:xfrm>
        </p:spPr>
        <p:txBody>
          <a:bodyPr lIns="0" rIns="0" bIns="0" anchor="ctr" anchorCtr="0">
            <a:noAutofit/>
          </a:bodyPr>
          <a:lstStyle>
            <a:lvl1pPr algn="r" rtl="1">
              <a:defRPr sz="2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he-IL" smtClean="0"/>
              <a:t>לחץ לעריכת שם המצגת</a:t>
            </a:r>
            <a:endParaRPr lang="en-US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12535" y="3042608"/>
            <a:ext cx="4194000" cy="447210"/>
          </a:xfrm>
        </p:spPr>
        <p:txBody>
          <a:bodyPr lIns="0" tIns="0" rIns="0" bIns="0" anchor="ctr" anchorCtr="0">
            <a:noAutofit/>
          </a:bodyPr>
          <a:lstStyle>
            <a:lvl1pPr marL="0" indent="0" algn="r" rtl="1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לעריכת כותרת משנה/תאריך</a:t>
            </a:r>
            <a:endParaRPr lang="en-US"/>
          </a:p>
        </p:txBody>
      </p:sp>
      <p:grpSp>
        <p:nvGrpSpPr>
          <p:cNvPr id="2" name="Group 10"/>
          <p:cNvGrpSpPr/>
          <p:nvPr/>
        </p:nvGrpSpPr>
        <p:grpSpPr>
          <a:xfrm>
            <a:off x="310238" y="3224893"/>
            <a:ext cx="4914906" cy="1428750"/>
            <a:chOff x="485008" y="4311194"/>
            <a:chExt cx="6322750" cy="1921561"/>
          </a:xfrm>
        </p:grpSpPr>
        <p:pic>
          <p:nvPicPr>
            <p:cNvPr id="16" name="Picture 15" descr="עיגול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5008" y="4605836"/>
              <a:ext cx="1194006" cy="1626919"/>
            </a:xfrm>
            <a:prstGeom prst="rect">
              <a:avLst/>
            </a:prstGeom>
          </p:spPr>
        </p:pic>
        <p:pic>
          <p:nvPicPr>
            <p:cNvPr id="17" name="Picture 16" descr="עיגול 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66619" y="4728053"/>
              <a:ext cx="1541139" cy="1028325"/>
            </a:xfrm>
            <a:prstGeom prst="rect">
              <a:avLst/>
            </a:prstGeom>
          </p:spPr>
        </p:pic>
        <p:pic>
          <p:nvPicPr>
            <p:cNvPr id="18" name="Picture 17" descr="TROPHY HV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16506" y="4620551"/>
              <a:ext cx="1853277" cy="1233702"/>
            </a:xfrm>
            <a:prstGeom prst="rect">
              <a:avLst/>
            </a:prstGeom>
          </p:spPr>
        </p:pic>
        <p:pic>
          <p:nvPicPr>
            <p:cNvPr id="19" name="Picture 18" descr="Picture2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32600" y="4311194"/>
              <a:ext cx="1847917" cy="1734448"/>
            </a:xfrm>
            <a:prstGeom prst="rect">
              <a:avLst/>
            </a:prstGeom>
          </p:spPr>
        </p:pic>
      </p:grpSp>
      <p:pic>
        <p:nvPicPr>
          <p:cNvPr id="15" name="Picture 14" descr="כיפת ברזל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0654" y="3243872"/>
            <a:ext cx="784135" cy="106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16153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41764" y="3110613"/>
            <a:ext cx="2223656" cy="1031896"/>
          </a:xfrm>
        </p:spPr>
        <p:txBody>
          <a:bodyPr lIns="0" rIns="0" bIns="0" anchor="t" anchorCtr="0">
            <a:noAutofit/>
          </a:bodyPr>
          <a:lstStyle>
            <a:lvl1pPr algn="r" rtl="1">
              <a:defRPr sz="24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he-IL" smtClean="0"/>
              <a:t>לחץ לעריכת כותרת חוצץ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175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134360"/>
            <a:ext cx="6753225" cy="638175"/>
          </a:xfrm>
        </p:spPr>
        <p:txBody>
          <a:bodyPr vert="horz" lIns="90000" tIns="45720" rIns="91440" bIns="45720" rtlCol="0" anchor="ctr">
            <a:noAutofit/>
          </a:bodyPr>
          <a:lstStyle>
            <a:lvl1pPr>
              <a:defRPr lang="en-US"/>
            </a:lvl1pPr>
          </a:lstStyle>
          <a:p>
            <a:pPr lvl="0"/>
            <a:r>
              <a:rPr lang="he-IL" smtClean="0"/>
              <a:t>לחץ לעריכת כותרת שקף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981076"/>
            <a:ext cx="8547099" cy="3503612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 smtClean="0"/>
              <a:t>לחץ לעריכת תוכן</a:t>
            </a:r>
            <a:endParaRPr lang="en-US" smtClean="0"/>
          </a:p>
          <a:p>
            <a:pPr lvl="1"/>
            <a:r>
              <a:rPr lang="he-IL" smtClean="0"/>
              <a:t>רמה שנייה</a:t>
            </a:r>
            <a:endParaRPr lang="en-US" smtClean="0"/>
          </a:p>
          <a:p>
            <a:pPr lvl="2"/>
            <a:r>
              <a:rPr lang="he-IL" smtClean="0"/>
              <a:t>רמה שלישית</a:t>
            </a:r>
            <a:endParaRPr lang="en-US" smtClean="0"/>
          </a:p>
          <a:p>
            <a:pPr lvl="3"/>
            <a:r>
              <a:rPr lang="he-IL" smtClean="0"/>
              <a:t>רמה רביעית</a:t>
            </a:r>
            <a:endParaRPr lang="en-US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5171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134360"/>
            <a:ext cx="6753224" cy="638175"/>
          </a:xfrm>
        </p:spPr>
        <p:txBody>
          <a:bodyPr vert="horz" lIns="90000" tIns="45720" rIns="91440" bIns="45720" rtlCol="0" anchor="ctr">
            <a:noAutofit/>
          </a:bodyPr>
          <a:lstStyle>
            <a:lvl1pPr>
              <a:defRPr lang="en-US"/>
            </a:lvl1pPr>
          </a:lstStyle>
          <a:p>
            <a:pPr lvl="0"/>
            <a:r>
              <a:rPr lang="he-IL" smtClean="0"/>
              <a:t>לחץ לעריכת כותרת שקף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4800" y="981075"/>
            <a:ext cx="4149724" cy="3503613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 smtClean="0"/>
              <a:t>לחץ לעריכת תוכן</a:t>
            </a:r>
            <a:endParaRPr lang="en-US" smtClean="0"/>
          </a:p>
          <a:p>
            <a:pPr lvl="1"/>
            <a:r>
              <a:rPr lang="he-IL" smtClean="0"/>
              <a:t>רמה שנייה</a:t>
            </a:r>
            <a:endParaRPr lang="en-US" smtClean="0"/>
          </a:p>
          <a:p>
            <a:pPr lvl="2"/>
            <a:r>
              <a:rPr lang="he-IL" smtClean="0"/>
              <a:t>רמה שלישית</a:t>
            </a:r>
            <a:endParaRPr lang="en-US" smtClean="0"/>
          </a:p>
          <a:p>
            <a:pPr lvl="3"/>
            <a:r>
              <a:rPr lang="he-IL" smtClean="0"/>
              <a:t>רמה רביעית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89474" y="981075"/>
            <a:ext cx="4162426" cy="3503613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 smtClean="0"/>
              <a:t>לחץ לעריכת תוכן</a:t>
            </a:r>
            <a:endParaRPr lang="en-US" smtClean="0"/>
          </a:p>
          <a:p>
            <a:pPr lvl="1"/>
            <a:r>
              <a:rPr lang="he-IL" smtClean="0"/>
              <a:t>רמה שנייה</a:t>
            </a:r>
            <a:endParaRPr lang="en-US" smtClean="0"/>
          </a:p>
          <a:p>
            <a:pPr lvl="2"/>
            <a:r>
              <a:rPr lang="he-IL" smtClean="0"/>
              <a:t>רמה שלישית</a:t>
            </a:r>
            <a:endParaRPr lang="en-US" smtClean="0"/>
          </a:p>
          <a:p>
            <a:pPr lvl="3"/>
            <a:r>
              <a:rPr lang="he-IL" smtClean="0"/>
              <a:t>רמה רביעית</a:t>
            </a:r>
            <a:endParaRPr lang="en-US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1847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97873" y="1413453"/>
            <a:ext cx="4158000" cy="3071235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 smtClean="0"/>
              <a:t>לחץ לעריכת תוכן</a:t>
            </a:r>
            <a:endParaRPr lang="en-US" smtClean="0"/>
          </a:p>
          <a:p>
            <a:pPr lvl="1"/>
            <a:r>
              <a:rPr lang="he-IL" smtClean="0"/>
              <a:t>רמה שנייה</a:t>
            </a:r>
            <a:endParaRPr lang="en-US" smtClean="0"/>
          </a:p>
          <a:p>
            <a:pPr lvl="2"/>
            <a:r>
              <a:rPr lang="he-IL" smtClean="0"/>
              <a:t>רמה שלישית</a:t>
            </a:r>
            <a:endParaRPr lang="en-US" smtClean="0"/>
          </a:p>
          <a:p>
            <a:pPr lvl="3"/>
            <a:r>
              <a:rPr lang="he-IL" smtClean="0"/>
              <a:t>רמה רביעית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88127" y="1405913"/>
            <a:ext cx="4158000" cy="3071235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 smtClean="0"/>
              <a:t>לחץ לעריכת תוכן</a:t>
            </a:r>
            <a:endParaRPr lang="en-US" smtClean="0"/>
          </a:p>
          <a:p>
            <a:pPr lvl="1"/>
            <a:r>
              <a:rPr lang="he-IL" smtClean="0"/>
              <a:t>רמה שנייה</a:t>
            </a:r>
            <a:endParaRPr lang="en-US" smtClean="0"/>
          </a:p>
          <a:p>
            <a:pPr lvl="2"/>
            <a:r>
              <a:rPr lang="he-IL" smtClean="0"/>
              <a:t>רמה שלישית</a:t>
            </a:r>
            <a:endParaRPr lang="en-US" smtClean="0"/>
          </a:p>
          <a:p>
            <a:pPr lvl="3"/>
            <a:r>
              <a:rPr lang="he-IL" smtClean="0"/>
              <a:t>רמה רביעית</a:t>
            </a:r>
            <a:endParaRPr lang="en-US" smtClean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97873" y="134360"/>
            <a:ext cx="6753225" cy="638175"/>
          </a:xfrm>
        </p:spPr>
        <p:txBody>
          <a:bodyPr/>
          <a:lstStyle>
            <a:lvl1pPr>
              <a:defRPr/>
            </a:lvl1pPr>
          </a:lstStyle>
          <a:p>
            <a:r>
              <a:rPr lang="he-IL" smtClean="0"/>
              <a:t>לחץ לעריכת כותרת שקף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97873" y="981075"/>
            <a:ext cx="4158000" cy="418306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לעריכת כותרת משנה</a:t>
            </a:r>
            <a:endParaRPr lang="en-US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88127" y="981075"/>
            <a:ext cx="4158000" cy="418306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לעריכת כותרת משנה</a:t>
            </a:r>
            <a:endParaRPr lang="en-US" smtClean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1481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4412536" y="2674195"/>
            <a:ext cx="4194000" cy="449736"/>
          </a:xfrm>
        </p:spPr>
        <p:txBody>
          <a:bodyPr lIns="0" rIns="0" bIns="0" anchor="ctr" anchorCtr="0">
            <a:noAutofit/>
          </a:bodyPr>
          <a:lstStyle>
            <a:lvl1pPr algn="r" rtl="1">
              <a:defRPr sz="2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he-IL" smtClean="0"/>
              <a:t>לחץ לעריכת שם המצגת</a:t>
            </a:r>
            <a:endParaRPr lang="en-US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12535" y="3042608"/>
            <a:ext cx="4194000" cy="447210"/>
          </a:xfrm>
        </p:spPr>
        <p:txBody>
          <a:bodyPr lIns="0" tIns="0" rIns="0" bIns="0" anchor="ctr" anchorCtr="0">
            <a:noAutofit/>
          </a:bodyPr>
          <a:lstStyle>
            <a:lvl1pPr marL="0" indent="0" algn="r" rtl="1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לעריכת כותרת משנה/תאריך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16153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41764" y="3110613"/>
            <a:ext cx="2223656" cy="1031896"/>
          </a:xfrm>
        </p:spPr>
        <p:txBody>
          <a:bodyPr lIns="0" rIns="0" bIns="0" anchor="t" anchorCtr="0">
            <a:noAutofit/>
          </a:bodyPr>
          <a:lstStyle>
            <a:lvl1pPr algn="r" rtl="1">
              <a:defRPr sz="24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he-IL" smtClean="0"/>
              <a:t>לחץ לעריכת כותרת חוצץ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1751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134360"/>
            <a:ext cx="6753225" cy="638175"/>
          </a:xfrm>
        </p:spPr>
        <p:txBody>
          <a:bodyPr vert="horz" lIns="90000" tIns="45720" rIns="91440" bIns="45720" rtlCol="0" anchor="ctr">
            <a:noAutofit/>
          </a:bodyPr>
          <a:lstStyle>
            <a:lvl1pPr>
              <a:defRPr lang="en-US"/>
            </a:lvl1pPr>
          </a:lstStyle>
          <a:p>
            <a:pPr lvl="0"/>
            <a:r>
              <a:rPr lang="he-IL" smtClean="0"/>
              <a:t>לחץ לעריכת כותרת שקף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981076"/>
            <a:ext cx="8547099" cy="3503612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 smtClean="0"/>
              <a:t>לחץ לעריכת תוכן</a:t>
            </a:r>
            <a:endParaRPr lang="en-US" smtClean="0"/>
          </a:p>
          <a:p>
            <a:pPr lvl="1"/>
            <a:r>
              <a:rPr lang="he-IL" smtClean="0"/>
              <a:t>רמה שנייה</a:t>
            </a:r>
            <a:endParaRPr lang="en-US" smtClean="0"/>
          </a:p>
          <a:p>
            <a:pPr lvl="2"/>
            <a:r>
              <a:rPr lang="he-IL" smtClean="0"/>
              <a:t>רמה שלישית</a:t>
            </a:r>
            <a:endParaRPr lang="en-US" smtClean="0"/>
          </a:p>
          <a:p>
            <a:pPr lvl="3"/>
            <a:r>
              <a:rPr lang="he-IL" smtClean="0"/>
              <a:t>רמה רביעית</a:t>
            </a:r>
            <a:endParaRPr lang="en-US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51711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134360"/>
            <a:ext cx="6753224" cy="638175"/>
          </a:xfrm>
        </p:spPr>
        <p:txBody>
          <a:bodyPr vert="horz" lIns="90000" tIns="45720" rIns="91440" bIns="45720" rtlCol="0" anchor="ctr">
            <a:noAutofit/>
          </a:bodyPr>
          <a:lstStyle>
            <a:lvl1pPr>
              <a:defRPr lang="en-US"/>
            </a:lvl1pPr>
          </a:lstStyle>
          <a:p>
            <a:pPr lvl="0"/>
            <a:r>
              <a:rPr lang="he-IL" smtClean="0"/>
              <a:t>לחץ לעריכת כותרת שקף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4800" y="981075"/>
            <a:ext cx="4149724" cy="3503613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 smtClean="0"/>
              <a:t>לחץ לעריכת תוכן</a:t>
            </a:r>
            <a:endParaRPr lang="en-US" smtClean="0"/>
          </a:p>
          <a:p>
            <a:pPr lvl="1"/>
            <a:r>
              <a:rPr lang="he-IL" smtClean="0"/>
              <a:t>רמה שנייה</a:t>
            </a:r>
            <a:endParaRPr lang="en-US" smtClean="0"/>
          </a:p>
          <a:p>
            <a:pPr lvl="2"/>
            <a:r>
              <a:rPr lang="he-IL" smtClean="0"/>
              <a:t>רמה שלישית</a:t>
            </a:r>
            <a:endParaRPr lang="en-US" smtClean="0"/>
          </a:p>
          <a:p>
            <a:pPr lvl="3"/>
            <a:r>
              <a:rPr lang="he-IL" smtClean="0"/>
              <a:t>רמה רביעית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89474" y="981075"/>
            <a:ext cx="4162426" cy="3503613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 smtClean="0"/>
              <a:t>לחץ לעריכת תוכן</a:t>
            </a:r>
            <a:endParaRPr lang="en-US" smtClean="0"/>
          </a:p>
          <a:p>
            <a:pPr lvl="1"/>
            <a:r>
              <a:rPr lang="he-IL" smtClean="0"/>
              <a:t>רמה שנייה</a:t>
            </a:r>
            <a:endParaRPr lang="en-US" smtClean="0"/>
          </a:p>
          <a:p>
            <a:pPr lvl="2"/>
            <a:r>
              <a:rPr lang="he-IL" smtClean="0"/>
              <a:t>רמה שלישית</a:t>
            </a:r>
            <a:endParaRPr lang="en-US" smtClean="0"/>
          </a:p>
          <a:p>
            <a:pPr lvl="3"/>
            <a:r>
              <a:rPr lang="he-IL" smtClean="0"/>
              <a:t>רמה רביעית</a:t>
            </a:r>
            <a:endParaRPr lang="en-US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18476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97873" y="1413453"/>
            <a:ext cx="4158000" cy="3071235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 smtClean="0"/>
              <a:t>לחץ לעריכת תוכן</a:t>
            </a:r>
            <a:endParaRPr lang="en-US" smtClean="0"/>
          </a:p>
          <a:p>
            <a:pPr lvl="1"/>
            <a:r>
              <a:rPr lang="he-IL" smtClean="0"/>
              <a:t>רמה שנייה</a:t>
            </a:r>
            <a:endParaRPr lang="en-US" smtClean="0"/>
          </a:p>
          <a:p>
            <a:pPr lvl="2"/>
            <a:r>
              <a:rPr lang="he-IL" smtClean="0"/>
              <a:t>רמה שלישית</a:t>
            </a:r>
            <a:endParaRPr lang="en-US" smtClean="0"/>
          </a:p>
          <a:p>
            <a:pPr lvl="3"/>
            <a:r>
              <a:rPr lang="he-IL" smtClean="0"/>
              <a:t>רמה רביעית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88127" y="1405913"/>
            <a:ext cx="4158000" cy="3071235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 smtClean="0"/>
              <a:t>לחץ לעריכת תוכן</a:t>
            </a:r>
            <a:endParaRPr lang="en-US" smtClean="0"/>
          </a:p>
          <a:p>
            <a:pPr lvl="1"/>
            <a:r>
              <a:rPr lang="he-IL" smtClean="0"/>
              <a:t>רמה שנייה</a:t>
            </a:r>
            <a:endParaRPr lang="en-US" smtClean="0"/>
          </a:p>
          <a:p>
            <a:pPr lvl="2"/>
            <a:r>
              <a:rPr lang="he-IL" smtClean="0"/>
              <a:t>רמה שלישית</a:t>
            </a:r>
            <a:endParaRPr lang="en-US" smtClean="0"/>
          </a:p>
          <a:p>
            <a:pPr lvl="3"/>
            <a:r>
              <a:rPr lang="he-IL" smtClean="0"/>
              <a:t>רמה רביעית</a:t>
            </a:r>
            <a:endParaRPr lang="en-US" smtClean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97873" y="134360"/>
            <a:ext cx="6753225" cy="638175"/>
          </a:xfrm>
        </p:spPr>
        <p:txBody>
          <a:bodyPr/>
          <a:lstStyle>
            <a:lvl1pPr>
              <a:defRPr/>
            </a:lvl1pPr>
          </a:lstStyle>
          <a:p>
            <a:r>
              <a:rPr lang="he-IL" smtClean="0"/>
              <a:t>לחץ לעריכת כותרת שקף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97873" y="981075"/>
            <a:ext cx="4158000" cy="418306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לעריכת כותרת משנה</a:t>
            </a:r>
            <a:endParaRPr lang="en-US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88127" y="981075"/>
            <a:ext cx="4158000" cy="418306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לעריכת כותרת משנה</a:t>
            </a:r>
            <a:endParaRPr lang="en-US" smtClean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14813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41764" y="3110613"/>
            <a:ext cx="2223656" cy="1031896"/>
          </a:xfrm>
          <a:prstGeom prst="rect">
            <a:avLst/>
          </a:prstGeom>
        </p:spPr>
        <p:txBody>
          <a:bodyPr lIns="0" rIns="0" bIns="0" anchor="t" anchorCtr="0">
            <a:noAutofit/>
          </a:bodyPr>
          <a:lstStyle>
            <a:lvl1pPr algn="r" rtl="1">
              <a:defRPr sz="2400" b="0">
                <a:solidFill>
                  <a:srgbClr val="0061A1"/>
                </a:solidFill>
                <a:latin typeface="+mj-lt"/>
                <a:cs typeface="+mn-cs"/>
              </a:defRPr>
            </a:lvl1pPr>
          </a:lstStyle>
          <a:p>
            <a:r>
              <a:rPr lang="he-IL" smtClean="0"/>
              <a:t>לחץ לעריכת כותרת חוצץ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175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gi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87980" y="134360"/>
            <a:ext cx="4176684" cy="634567"/>
          </a:xfrm>
          <a:prstGeom prst="rect">
            <a:avLst/>
          </a:prstGeom>
        </p:spPr>
        <p:txBody>
          <a:bodyPr vert="horz" lIns="9000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81076"/>
            <a:ext cx="8547099" cy="3503612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9009" y="4687652"/>
            <a:ext cx="25289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 rtl="1">
              <a:defRPr sz="1000" b="0">
                <a:solidFill>
                  <a:schemeClr val="tx1"/>
                </a:solidFill>
                <a:latin typeface="+mj-lt"/>
              </a:defRPr>
            </a:lvl1pPr>
          </a:lstStyle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Box 14"/>
          <p:cNvSpPr txBox="1">
            <a:spLocks noChangeArrowheads="1"/>
          </p:cNvSpPr>
          <p:nvPr userDrawn="1"/>
        </p:nvSpPr>
        <p:spPr bwMode="auto">
          <a:xfrm>
            <a:off x="2887663" y="4779318"/>
            <a:ext cx="3384550" cy="2308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he-IL" sz="900">
                <a:solidFill>
                  <a:schemeClr val="bg1">
                    <a:lumMod val="50000"/>
                  </a:schemeClr>
                </a:solidFill>
                <a:cs typeface="+mn-cs"/>
              </a:rPr>
              <a:t>קניין רפאל - מערכות לחימה מתקדמות בע"מ</a:t>
            </a:r>
            <a:endParaRPr lang="pt-BR" sz="900">
              <a:solidFill>
                <a:schemeClr val="bg1">
                  <a:lumMod val="50000"/>
                </a:schemeClr>
              </a:solidFill>
              <a:cs typeface="+mn-cs"/>
            </a:endParaRPr>
          </a:p>
        </p:txBody>
      </p:sp>
      <p:sp>
        <p:nvSpPr>
          <p:cNvPr id="8" name="Text Box 14"/>
          <p:cNvSpPr txBox="1">
            <a:spLocks noChangeArrowheads="1"/>
          </p:cNvSpPr>
          <p:nvPr userDrawn="1"/>
        </p:nvSpPr>
        <p:spPr bwMode="auto">
          <a:xfrm>
            <a:off x="2887660" y="0"/>
            <a:ext cx="3384550" cy="2308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he-IL" sz="900" smtClean="0">
                <a:solidFill>
                  <a:schemeClr val="bg1">
                    <a:lumMod val="50000"/>
                  </a:schemeClr>
                </a:solidFill>
                <a:cs typeface="+mn-cs"/>
              </a:rPr>
              <a:t>בלמ"ס</a:t>
            </a:r>
            <a:endParaRPr lang="pt-BR" sz="900">
              <a:solidFill>
                <a:schemeClr val="bg1">
                  <a:lumMod val="50000"/>
                </a:schemeClr>
              </a:solidFill>
              <a:cs typeface="+mn-cs"/>
            </a:endParaRPr>
          </a:p>
        </p:txBody>
      </p:sp>
      <p:sp>
        <p:nvSpPr>
          <p:cNvPr id="9" name="Text Box 14"/>
          <p:cNvSpPr txBox="1">
            <a:spLocks noChangeArrowheads="1"/>
          </p:cNvSpPr>
          <p:nvPr userDrawn="1"/>
        </p:nvSpPr>
        <p:spPr bwMode="auto">
          <a:xfrm>
            <a:off x="297180" y="4810118"/>
            <a:ext cx="1754457" cy="2308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r" rtl="0">
              <a:spcBef>
                <a:spcPct val="50000"/>
              </a:spcBef>
            </a:pPr>
            <a:r>
              <a:rPr lang="he-IL" sz="900" smtClean="0">
                <a:solidFill>
                  <a:schemeClr val="bg1">
                    <a:lumMod val="50000"/>
                  </a:schemeClr>
                </a:solidFill>
                <a:cs typeface="+mn-cs"/>
              </a:rPr>
              <a:t>סימוכין: </a:t>
            </a:r>
            <a:endParaRPr lang="pt-BR" sz="900">
              <a:solidFill>
                <a:schemeClr val="bg1">
                  <a:lumMod val="50000"/>
                </a:schemeClr>
              </a:solidFill>
              <a:cs typeface="+mn-cs"/>
            </a:endParaRPr>
          </a:p>
        </p:txBody>
      </p:sp>
      <p:pic>
        <p:nvPicPr>
          <p:cNvPr id="4" name="Picture 2" descr="U:\CARMELA\סמלים\חטיבת מופ והנדסה - מפה\חטיבת מופ והנדסה - עברית.gif"/>
          <p:cNvPicPr>
            <a:picLocks noChangeAspect="1" noChangeArrowheads="1"/>
          </p:cNvPicPr>
          <p:nvPr userDrawn="1"/>
        </p:nvPicPr>
        <p:blipFill>
          <a:blip r:embed="rId21"/>
          <a:srcRect b="15089"/>
          <a:stretch>
            <a:fillRect/>
          </a:stretch>
        </p:blipFill>
        <p:spPr bwMode="auto">
          <a:xfrm>
            <a:off x="174625" y="369095"/>
            <a:ext cx="1980000" cy="1650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49480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49" r:id="rId14"/>
    <p:sldLayoutId id="2147483656" r:id="rId15"/>
    <p:sldLayoutId id="2147483650" r:id="rId16"/>
    <p:sldLayoutId id="2147483652" r:id="rId17"/>
    <p:sldLayoutId id="2147483653" r:id="rId18"/>
  </p:sldLayoutIdLst>
  <p:transition/>
  <p:hf hdr="0" ftr="0" dt="0"/>
  <p:txStyles>
    <p:titleStyle>
      <a:lvl1pPr algn="r" defTabSz="914400" rtl="1" eaLnBrk="1" latinLnBrk="0" hangingPunct="1">
        <a:spcBef>
          <a:spcPct val="0"/>
        </a:spcBef>
        <a:buNone/>
        <a:defRPr sz="24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9388" indent="-179388" algn="r" defTabSz="914400" rtl="1" eaLnBrk="1" latinLnBrk="0" hangingPunct="1">
        <a:spcBef>
          <a:spcPts val="1200"/>
        </a:spcBef>
        <a:buClr>
          <a:schemeClr val="accent1"/>
        </a:buClr>
        <a:buSzTx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60363" indent="-180975" algn="r" defTabSz="914400" rtl="1" eaLnBrk="1" latinLnBrk="0" hangingPunct="1">
        <a:spcBef>
          <a:spcPts val="1200"/>
        </a:spcBef>
        <a:buClr>
          <a:schemeClr val="accent2"/>
        </a:buClr>
        <a:buSzTx/>
        <a:buFont typeface="Arial" panose="020B06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39750" indent="-179388" algn="r" defTabSz="914400" rtl="1" eaLnBrk="1" latinLnBrk="0" hangingPunct="1">
        <a:spcBef>
          <a:spcPts val="1200"/>
        </a:spcBef>
        <a:buClr>
          <a:schemeClr val="accent1"/>
        </a:buClr>
        <a:buSzTx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725" indent="-180975" algn="r" defTabSz="914400" rtl="1" eaLnBrk="1" latinLnBrk="0" hangingPunct="1">
        <a:spcBef>
          <a:spcPts val="1200"/>
        </a:spcBef>
        <a:buClr>
          <a:schemeClr val="accent2"/>
        </a:buClr>
        <a:buSzTx/>
        <a:buFont typeface="Arial" panose="020B060402020202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9009" y="4687652"/>
            <a:ext cx="25289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 rtl="1">
              <a:defRPr sz="1000" b="0">
                <a:solidFill>
                  <a:schemeClr val="tx1"/>
                </a:solidFill>
                <a:latin typeface="+mj-lt"/>
              </a:defRPr>
            </a:lvl1pPr>
          </a:lstStyle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Box 14"/>
          <p:cNvSpPr txBox="1">
            <a:spLocks noChangeArrowheads="1"/>
          </p:cNvSpPr>
          <p:nvPr userDrawn="1"/>
        </p:nvSpPr>
        <p:spPr bwMode="auto">
          <a:xfrm>
            <a:off x="586582" y="4842818"/>
            <a:ext cx="3384550" cy="2308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he-IL" sz="900">
                <a:solidFill>
                  <a:schemeClr val="bg1">
                    <a:lumMod val="50000"/>
                  </a:schemeClr>
                </a:solidFill>
                <a:cs typeface="+mn-cs"/>
              </a:rPr>
              <a:t>קניין רפאל - מערכות לחימה מתקדמות בע"מ</a:t>
            </a:r>
            <a:endParaRPr lang="pt-BR" sz="900">
              <a:solidFill>
                <a:schemeClr val="bg1">
                  <a:lumMod val="50000"/>
                </a:schemeClr>
              </a:solidFill>
              <a:cs typeface="+mn-cs"/>
            </a:endParaRPr>
          </a:p>
        </p:txBody>
      </p:sp>
      <p:sp>
        <p:nvSpPr>
          <p:cNvPr id="6" name="Text Box 14"/>
          <p:cNvSpPr txBox="1">
            <a:spLocks noChangeArrowheads="1"/>
          </p:cNvSpPr>
          <p:nvPr userDrawn="1"/>
        </p:nvSpPr>
        <p:spPr bwMode="auto">
          <a:xfrm>
            <a:off x="1129554" y="0"/>
            <a:ext cx="3273398" cy="2308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he-IL" sz="900" smtClean="0">
                <a:solidFill>
                  <a:schemeClr val="bg1">
                    <a:lumMod val="50000"/>
                  </a:schemeClr>
                </a:solidFill>
                <a:cs typeface="+mn-cs"/>
              </a:rPr>
              <a:t>בלמ"ס</a:t>
            </a:r>
            <a:endParaRPr lang="pt-BR" sz="900">
              <a:solidFill>
                <a:schemeClr val="bg1">
                  <a:lumMod val="50000"/>
                </a:schemeClr>
              </a:solidFill>
              <a:cs typeface="+mn-cs"/>
            </a:endParaRPr>
          </a:p>
        </p:txBody>
      </p:sp>
      <p:sp>
        <p:nvSpPr>
          <p:cNvPr id="7" name="Text Box 14"/>
          <p:cNvSpPr txBox="1">
            <a:spLocks noChangeArrowheads="1"/>
          </p:cNvSpPr>
          <p:nvPr userDrawn="1"/>
        </p:nvSpPr>
        <p:spPr bwMode="auto">
          <a:xfrm>
            <a:off x="30737" y="4840996"/>
            <a:ext cx="1133045" cy="2308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r" rtl="0">
              <a:spcBef>
                <a:spcPct val="50000"/>
              </a:spcBef>
            </a:pPr>
            <a:r>
              <a:rPr lang="he-IL" sz="900" smtClean="0">
                <a:solidFill>
                  <a:schemeClr val="bg1">
                    <a:lumMod val="50000"/>
                  </a:schemeClr>
                </a:solidFill>
                <a:cs typeface="+mn-cs"/>
              </a:rPr>
              <a:t>סימוכין: </a:t>
            </a:r>
            <a:endParaRPr lang="pt-BR" sz="900">
              <a:solidFill>
                <a:schemeClr val="bg1">
                  <a:lumMod val="50000"/>
                </a:schemeClr>
              </a:solidFill>
              <a:cs typeface="+mn-cs"/>
            </a:endParaRPr>
          </a:p>
        </p:txBody>
      </p:sp>
      <p:pic>
        <p:nvPicPr>
          <p:cNvPr id="8" name="Picture 2" descr="U:\CARMELA\סמלים\חטיבת מופ והנדסה - מפה\חטיבת מופ והנדסה - עברית.gif"/>
          <p:cNvPicPr>
            <a:picLocks noChangeAspect="1" noChangeArrowheads="1"/>
          </p:cNvPicPr>
          <p:nvPr userDrawn="1"/>
        </p:nvPicPr>
        <p:blipFill>
          <a:blip r:embed="rId3"/>
          <a:srcRect b="15089"/>
          <a:stretch>
            <a:fillRect/>
          </a:stretch>
        </p:blipFill>
        <p:spPr bwMode="auto">
          <a:xfrm>
            <a:off x="1776253" y="369095"/>
            <a:ext cx="1980000" cy="165097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ransition/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exceptions.html" TargetMode="Externa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 smtClean="0"/>
              <a:t>קורס </a:t>
            </a:r>
            <a:r>
              <a:rPr lang="he-IL" dirty="0" err="1" smtClean="0"/>
              <a:t>פייתון</a:t>
            </a:r>
            <a:r>
              <a:rPr lang="he-IL" dirty="0" smtClean="0"/>
              <a:t> </a:t>
            </a:r>
            <a:endParaRPr lang="en-US" dirty="0"/>
          </a:p>
        </p:txBody>
      </p:sp>
      <p:sp>
        <p:nvSpPr>
          <p:cNvPr id="4" name="כותרת משנה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 smtClean="0"/>
              <a:t>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195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 smtClean="0"/>
              <a:t>Debug,</a:t>
            </a:r>
            <a:br>
              <a:rPr lang="en-US" dirty="0" smtClean="0"/>
            </a:br>
            <a:r>
              <a:rPr lang="en-US" dirty="0" smtClean="0"/>
              <a:t>Error Handling,</a:t>
            </a:r>
            <a:br>
              <a:rPr lang="en-US" dirty="0" smtClean="0"/>
            </a:br>
            <a:r>
              <a:rPr lang="en-US" dirty="0" smtClean="0"/>
              <a:t>Logging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5918833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Debugging 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728" y="1267091"/>
            <a:ext cx="3762375" cy="26860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85229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Debugging</a:t>
            </a:r>
            <a:r>
              <a:rPr lang="he-IL" dirty="0" smtClean="0"/>
              <a:t> 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4</a:t>
            </a:fld>
            <a:endParaRPr 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78355" y="987397"/>
            <a:ext cx="8547099" cy="3503612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179388" indent="-179388" algn="r" defTabSz="914400" rtl="1" eaLnBrk="1" latinLnBrk="0" hangingPunct="1">
              <a:spcBef>
                <a:spcPts val="12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3" indent="-180975" algn="r" defTabSz="914400" rtl="1" eaLnBrk="1" latinLnBrk="0" hangingPunct="1">
              <a:spcBef>
                <a:spcPts val="120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-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179388" algn="r" defTabSz="914400" rtl="1" eaLnBrk="1" latinLnBrk="0" hangingPunct="1">
              <a:spcBef>
                <a:spcPts val="12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725" indent="-180975" algn="r" defTabSz="914400" rtl="1" eaLnBrk="1" latinLnBrk="0" hangingPunct="1">
              <a:spcBef>
                <a:spcPts val="120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-"/>
              <a:def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dirty="0" smtClean="0"/>
              <a:t>אפשרויות ל-</a:t>
            </a:r>
            <a:r>
              <a:rPr lang="en-US" dirty="0" smtClean="0"/>
              <a:t>Debug</a:t>
            </a:r>
            <a:r>
              <a:rPr lang="he-IL" dirty="0" smtClean="0"/>
              <a:t> דרך </a:t>
            </a:r>
            <a:r>
              <a:rPr lang="en-US" dirty="0" err="1" smtClean="0"/>
              <a:t>Pycharms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05" y="1487449"/>
            <a:ext cx="7095658" cy="3003560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V="1">
            <a:off x="5774148" y="1630573"/>
            <a:ext cx="1042288" cy="9016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098322" y="2377715"/>
            <a:ext cx="135165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 smtClean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Debug icon</a:t>
            </a:r>
            <a:endParaRPr lang="en-US" b="0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1" name="Straight Arrow Connector 10"/>
          <p:cNvCxnSpPr>
            <a:endCxn id="12" idx="5"/>
          </p:cNvCxnSpPr>
          <p:nvPr/>
        </p:nvCxnSpPr>
        <p:spPr>
          <a:xfrm flipH="1" flipV="1">
            <a:off x="1058688" y="2350931"/>
            <a:ext cx="1983984" cy="15034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09566" y="2299133"/>
            <a:ext cx="57550" cy="606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Rectangle 15"/>
          <p:cNvSpPr/>
          <p:nvPr/>
        </p:nvSpPr>
        <p:spPr>
          <a:xfrm>
            <a:off x="2388203" y="3768055"/>
            <a:ext cx="239039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 smtClean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Marking line to debug</a:t>
            </a:r>
            <a:endParaRPr lang="en-US" b="0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3798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Debugging</a:t>
            </a:r>
            <a:r>
              <a:rPr lang="he-IL" dirty="0" smtClean="0"/>
              <a:t> 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5</a:t>
            </a:fld>
            <a:endParaRPr 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78355" y="987397"/>
            <a:ext cx="8547099" cy="3503612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179388" indent="-179388" algn="r" defTabSz="914400" rtl="1" eaLnBrk="1" latinLnBrk="0" hangingPunct="1">
              <a:spcBef>
                <a:spcPts val="12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3" indent="-180975" algn="r" defTabSz="914400" rtl="1" eaLnBrk="1" latinLnBrk="0" hangingPunct="1">
              <a:spcBef>
                <a:spcPts val="120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-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179388" algn="r" defTabSz="914400" rtl="1" eaLnBrk="1" latinLnBrk="0" hangingPunct="1">
              <a:spcBef>
                <a:spcPts val="12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725" indent="-180975" algn="r" defTabSz="914400" rtl="1" eaLnBrk="1" latinLnBrk="0" hangingPunct="1">
              <a:spcBef>
                <a:spcPts val="120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-"/>
              <a:def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dirty="0" smtClean="0"/>
              <a:t>בהפעלת </a:t>
            </a:r>
            <a:r>
              <a:rPr lang="he-IL" dirty="0" err="1" smtClean="0"/>
              <a:t>דיבאג</a:t>
            </a:r>
            <a:r>
              <a:rPr lang="he-IL" dirty="0" smtClean="0"/>
              <a:t>, התוכנה תתחיל לרוץ עד השורה המסומנת בנקודה אדומה. </a:t>
            </a:r>
          </a:p>
          <a:p>
            <a:pPr lvl="1"/>
            <a:r>
              <a:rPr lang="he-IL" dirty="0" smtClean="0"/>
              <a:t>ברגע שנגיע לנקודה ששמה </a:t>
            </a:r>
            <a:r>
              <a:rPr lang="en-US" dirty="0" smtClean="0"/>
              <a:t>breakpoint</a:t>
            </a:r>
            <a:r>
              <a:rPr lang="he-IL" dirty="0" smtClean="0"/>
              <a:t> נוכל לראות מה המצב הנוכחי של התוכנה שלנו:</a:t>
            </a:r>
          </a:p>
          <a:p>
            <a:pPr lvl="1"/>
            <a:endParaRPr lang="he-IL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1875704"/>
            <a:ext cx="2006600" cy="168736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0" y="3000994"/>
            <a:ext cx="2482850" cy="660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55" y="1759760"/>
            <a:ext cx="7483475" cy="2731249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2565400" y="2311400"/>
            <a:ext cx="3238500" cy="254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3480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/>
          <a:srcRect r="16876" b="4857"/>
          <a:stretch/>
        </p:blipFill>
        <p:spPr>
          <a:xfrm>
            <a:off x="1974850" y="1583909"/>
            <a:ext cx="3943147" cy="2717429"/>
          </a:xfrm>
          <a:prstGeom prst="rect">
            <a:avLst/>
          </a:prstGeom>
        </p:spPr>
      </p:pic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Debugging</a:t>
            </a:r>
            <a:r>
              <a:rPr lang="he-IL" dirty="0" smtClean="0"/>
              <a:t> 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6</a:t>
            </a:fld>
            <a:endParaRPr 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78355" y="987397"/>
            <a:ext cx="8547099" cy="3503612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179388" indent="-179388" algn="r" defTabSz="914400" rtl="1" eaLnBrk="1" latinLnBrk="0" hangingPunct="1">
              <a:spcBef>
                <a:spcPts val="12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3" indent="-180975" algn="r" defTabSz="914400" rtl="1" eaLnBrk="1" latinLnBrk="0" hangingPunct="1">
              <a:spcBef>
                <a:spcPts val="120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-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179388" algn="r" defTabSz="914400" rtl="1" eaLnBrk="1" latinLnBrk="0" hangingPunct="1">
              <a:spcBef>
                <a:spcPts val="12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725" indent="-180975" algn="r" defTabSz="914400" rtl="1" eaLnBrk="1" latinLnBrk="0" hangingPunct="1">
              <a:spcBef>
                <a:spcPts val="120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-"/>
              <a:def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Evaluate expression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5138" t="37779" r="51465" b="11535"/>
          <a:stretch/>
        </p:blipFill>
        <p:spPr>
          <a:xfrm>
            <a:off x="2574949" y="2560319"/>
            <a:ext cx="1324053" cy="1572769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1324051" y="2531060"/>
            <a:ext cx="958291" cy="19599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2355494" y="3511035"/>
            <a:ext cx="453288" cy="9799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3599078" y="2621019"/>
            <a:ext cx="892369" cy="18699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477517" y="1388097"/>
            <a:ext cx="1461841" cy="30010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447" y="1388097"/>
            <a:ext cx="1447911" cy="300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6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תרגול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7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046" y="1535190"/>
            <a:ext cx="5631349" cy="2013705"/>
          </a:xfrm>
          <a:prstGeom prst="rect">
            <a:avLst/>
          </a:prstGeom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78355" y="987397"/>
            <a:ext cx="8547099" cy="3503612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179388" indent="-179388" algn="r" defTabSz="914400" rtl="1" eaLnBrk="1" latinLnBrk="0" hangingPunct="1">
              <a:spcBef>
                <a:spcPts val="12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3" indent="-180975" algn="r" defTabSz="914400" rtl="1" eaLnBrk="1" latinLnBrk="0" hangingPunct="1">
              <a:spcBef>
                <a:spcPts val="120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-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179388" algn="r" defTabSz="914400" rtl="1" eaLnBrk="1" latinLnBrk="0" hangingPunct="1">
              <a:spcBef>
                <a:spcPts val="12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725" indent="-180975" algn="r" defTabSz="914400" rtl="1" eaLnBrk="1" latinLnBrk="0" hangingPunct="1">
              <a:spcBef>
                <a:spcPts val="120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-"/>
              <a:def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dirty="0" smtClean="0"/>
              <a:t>בוא ננסה לראות למה אין פלט לתוכנה</a:t>
            </a:r>
            <a:endParaRPr lang="he-IL" dirty="0" smtClean="0"/>
          </a:p>
        </p:txBody>
      </p:sp>
    </p:spTree>
    <p:extLst>
      <p:ext uri="{BB962C8B-B14F-4D97-AF65-F5344CB8AC3E}">
        <p14:creationId xmlns:p14="http://schemas.microsoft.com/office/powerpoint/2010/main" val="908319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handling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8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850" y="1998834"/>
            <a:ext cx="4719516" cy="22485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1378347" y="877853"/>
            <a:ext cx="5912521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cap="none" spc="0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Error Handling</a:t>
            </a:r>
            <a:endParaRPr lang="en-US" sz="6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07241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handling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981076"/>
            <a:ext cx="8547099" cy="3503612"/>
          </a:xfrm>
        </p:spPr>
        <p:txBody>
          <a:bodyPr/>
          <a:lstStyle/>
          <a:p>
            <a:r>
              <a:rPr lang="he-IL" dirty="0" smtClean="0"/>
              <a:t>למה צריך לטפל בשגיאות?</a:t>
            </a:r>
          </a:p>
          <a:p>
            <a:pPr lvl="1"/>
            <a:r>
              <a:rPr lang="he-IL" dirty="0" smtClean="0"/>
              <a:t>קוד שלא נופל</a:t>
            </a:r>
          </a:p>
          <a:p>
            <a:pPr lvl="1"/>
            <a:r>
              <a:rPr lang="he-IL" dirty="0" smtClean="0"/>
              <a:t>סינון ראשים במערכת</a:t>
            </a:r>
          </a:p>
          <a:p>
            <a:pPr lvl="1"/>
            <a:r>
              <a:rPr lang="he-IL" dirty="0" smtClean="0"/>
              <a:t>עבודה נכונה ויעילה</a:t>
            </a:r>
            <a:endParaRPr lang="he-IL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193" y="2334142"/>
            <a:ext cx="2088177" cy="208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037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handling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601"/>
            <a:ext cx="8547099" cy="924456"/>
          </a:xfrm>
        </p:spPr>
        <p:txBody>
          <a:bodyPr/>
          <a:lstStyle/>
          <a:p>
            <a:r>
              <a:rPr lang="he-IL" dirty="0" smtClean="0"/>
              <a:t>מה זאת אומרת לטפל בשגיאות?</a:t>
            </a:r>
          </a:p>
          <a:p>
            <a:pPr lvl="1"/>
            <a:r>
              <a:rPr lang="he-IL" dirty="0" smtClean="0"/>
              <a:t>להריץ קטע קוד בדרך מסוימת כך שאם ישנה שגיאה לא צפויה יופעל קטע קוד נוסף שיטפל בבעיה</a:t>
            </a:r>
            <a:endParaRPr lang="he-IL" dirty="0" smtClean="0"/>
          </a:p>
        </p:txBody>
      </p:sp>
      <p:pic>
        <p:nvPicPr>
          <p:cNvPr id="1026" name="Picture 2" descr="Image result for expec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7621" y="2756238"/>
            <a:ext cx="3067204" cy="1653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1685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handling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601"/>
            <a:ext cx="8547099" cy="924456"/>
          </a:xfrm>
        </p:spPr>
        <p:txBody>
          <a:bodyPr/>
          <a:lstStyle/>
          <a:p>
            <a:r>
              <a:rPr lang="he-IL" dirty="0" smtClean="0"/>
              <a:t>מה יקרה אם נכניס מספר שהוא קטן יותר מ3 ספרות?</a:t>
            </a:r>
            <a:endParaRPr lang="he-IL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62" y="2241306"/>
            <a:ext cx="7981950" cy="15049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491" y="2363898"/>
            <a:ext cx="6448425" cy="1143000"/>
          </a:xfrm>
          <a:prstGeom prst="rect">
            <a:avLst/>
          </a:prstGeom>
          <a:ln w="228600" cap="sq" cmpd="thickThin">
            <a:solidFill>
              <a:srgbClr val="FF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538265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handling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12</a:t>
            </a:fld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601"/>
            <a:ext cx="8547099" cy="924456"/>
          </a:xfrm>
        </p:spPr>
        <p:txBody>
          <a:bodyPr/>
          <a:lstStyle/>
          <a:p>
            <a:r>
              <a:rPr lang="he-IL" dirty="0" smtClean="0"/>
              <a:t>איך ניתן לבנות הגנה ותיקון של הבעיה הנ"ל?</a:t>
            </a:r>
            <a:endParaRPr lang="he-IL" dirty="0" smtClean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-1754199" y="2118216"/>
            <a:ext cx="8547099" cy="924456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179388" indent="-179388" algn="r" defTabSz="914400" rtl="1" eaLnBrk="1" latinLnBrk="0" hangingPunct="1">
              <a:spcBef>
                <a:spcPts val="12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3" indent="-180975" algn="r" defTabSz="914400" rtl="1" eaLnBrk="1" latinLnBrk="0" hangingPunct="1">
              <a:spcBef>
                <a:spcPts val="120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-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179388" algn="r" defTabSz="914400" rtl="1" eaLnBrk="1" latinLnBrk="0" hangingPunct="1">
              <a:spcBef>
                <a:spcPts val="12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725" indent="-180975" algn="r" defTabSz="914400" rtl="1" eaLnBrk="1" latinLnBrk="0" hangingPunct="1">
              <a:spcBef>
                <a:spcPts val="120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-"/>
              <a:def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dirty="0" smtClean="0"/>
              <a:t>להשתמש ב </a:t>
            </a:r>
            <a:r>
              <a:rPr lang="en-US" dirty="0" smtClean="0"/>
              <a:t>TRY</a:t>
            </a:r>
            <a:r>
              <a:rPr lang="he-IL" dirty="0" smtClean="0"/>
              <a:t>ו-</a:t>
            </a:r>
            <a:r>
              <a:rPr lang="en-US" dirty="0" smtClean="0"/>
              <a:t> </a:t>
            </a:r>
            <a:r>
              <a:rPr lang="en-US" dirty="0"/>
              <a:t>EXCEPT</a:t>
            </a:r>
            <a:endParaRPr lang="he-IL" dirty="0"/>
          </a:p>
        </p:txBody>
      </p:sp>
      <p:sp>
        <p:nvSpPr>
          <p:cNvPr id="6" name="Rectangle 5"/>
          <p:cNvSpPr/>
          <p:nvPr/>
        </p:nvSpPr>
        <p:spPr>
          <a:xfrm>
            <a:off x="403817" y="2645024"/>
            <a:ext cx="82913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אבל מה זה </a:t>
            </a:r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TRY</a:t>
            </a:r>
            <a:r>
              <a:rPr lang="he-IL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ו-</a:t>
            </a:r>
            <a:r>
              <a:rPr lang="en-US" sz="5400" dirty="0"/>
              <a:t> EXCEPT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3586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handling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13</a:t>
            </a:fld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601"/>
            <a:ext cx="8547099" cy="92445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TRY</a:t>
            </a:r>
            <a:endParaRPr lang="he-IL" dirty="0" smtClean="0"/>
          </a:p>
          <a:p>
            <a:pPr lvl="1"/>
            <a:r>
              <a:rPr lang="he-IL" dirty="0" smtClean="0"/>
              <a:t>זה הצהרה על קטע קוד שאני רוצה לנסות להריץ אותו ובמידע ובמקום ליפול במידע ויש תקלה לעבור לחלק המטפל בבעיה</a:t>
            </a:r>
            <a:endParaRPr lang="he-IL" dirty="0" smtClean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319630" y="2643898"/>
            <a:ext cx="8547099" cy="924456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179388" indent="-179388" algn="r" defTabSz="914400" rtl="1" eaLnBrk="1" latinLnBrk="0" hangingPunct="1">
              <a:spcBef>
                <a:spcPts val="12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3" indent="-180975" algn="r" defTabSz="914400" rtl="1" eaLnBrk="1" latinLnBrk="0" hangingPunct="1">
              <a:spcBef>
                <a:spcPts val="120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-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179388" algn="r" defTabSz="914400" rtl="1" eaLnBrk="1" latinLnBrk="0" hangingPunct="1">
              <a:spcBef>
                <a:spcPts val="12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725" indent="-180975" algn="r" defTabSz="914400" rtl="1" eaLnBrk="1" latinLnBrk="0" hangingPunct="1">
              <a:spcBef>
                <a:spcPts val="120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-"/>
              <a:def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EXCEPT</a:t>
            </a:r>
          </a:p>
          <a:p>
            <a:pPr lvl="1"/>
            <a:r>
              <a:rPr lang="he-IL" dirty="0" smtClean="0"/>
              <a:t>קטע קוד שעליו מגיעים אם נתקלו בבעיה במהלך ריצה בתוך </a:t>
            </a:r>
            <a:r>
              <a:rPr lang="en-US" dirty="0" smtClean="0"/>
              <a:t>TRY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71995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handling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21754"/>
            <a:ext cx="8547099" cy="924456"/>
          </a:xfrm>
        </p:spPr>
        <p:txBody>
          <a:bodyPr>
            <a:normAutofit/>
          </a:bodyPr>
          <a:lstStyle/>
          <a:p>
            <a:r>
              <a:rPr lang="he-IL" dirty="0" smtClean="0"/>
              <a:t>אז איך כל זה נראה בפועל?</a:t>
            </a:r>
            <a:endParaRPr lang="he-IL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49" y="1741143"/>
            <a:ext cx="7953375" cy="20193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671413" y="1899139"/>
            <a:ext cx="543525" cy="1918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Oval 8"/>
          <p:cNvSpPr/>
          <p:nvPr/>
        </p:nvSpPr>
        <p:spPr>
          <a:xfrm>
            <a:off x="721503" y="2518528"/>
            <a:ext cx="543525" cy="1918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1974850" y="2665599"/>
            <a:ext cx="928210" cy="12528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239851" y="3614498"/>
            <a:ext cx="22765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מה זה?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0959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handling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21754"/>
            <a:ext cx="8547099" cy="3565898"/>
          </a:xfrm>
        </p:spPr>
        <p:txBody>
          <a:bodyPr>
            <a:normAutofit/>
          </a:bodyPr>
          <a:lstStyle/>
          <a:p>
            <a:r>
              <a:rPr lang="he-IL" dirty="0" smtClean="0"/>
              <a:t>מספר סוגים של תקלות צפויות</a:t>
            </a:r>
          </a:p>
          <a:p>
            <a:pPr lvl="1"/>
            <a:r>
              <a:rPr lang="he-IL" dirty="0" smtClean="0"/>
              <a:t>על מנת לעבוד יעיל ניתן להגדיר איזה סוג תקלה אני מצפה ולתפוס שגיאות מהסוג הזה, לדוגמה:</a:t>
            </a:r>
          </a:p>
          <a:p>
            <a:pPr lvl="2"/>
            <a:r>
              <a:rPr lang="en-US" b="1" dirty="0"/>
              <a:t>EXCEPTION</a:t>
            </a:r>
            <a:r>
              <a:rPr lang="he-IL" dirty="0" smtClean="0"/>
              <a:t> – כלל חריגות ללא צפי לחריגה ספציפית</a:t>
            </a:r>
          </a:p>
          <a:p>
            <a:pPr lvl="2"/>
            <a:r>
              <a:rPr lang="en-US" b="1" dirty="0" err="1" smtClean="0"/>
              <a:t>BaseException</a:t>
            </a:r>
            <a:r>
              <a:rPr lang="he-IL" b="1" dirty="0"/>
              <a:t> </a:t>
            </a:r>
            <a:r>
              <a:rPr lang="he-IL" dirty="0" smtClean="0"/>
              <a:t>– טיפוס בסיסי</a:t>
            </a:r>
            <a:endParaRPr lang="en-US" dirty="0" smtClean="0"/>
          </a:p>
          <a:p>
            <a:pPr lvl="2"/>
            <a:r>
              <a:rPr lang="en-US" b="1" dirty="0" smtClean="0"/>
              <a:t> - </a:t>
            </a:r>
            <a:r>
              <a:rPr lang="en-US" b="1" dirty="0" err="1" smtClean="0"/>
              <a:t>ArithmeticError</a:t>
            </a:r>
            <a:r>
              <a:rPr lang="he-IL" dirty="0" smtClean="0"/>
              <a:t>כל השגיאות החישוביות</a:t>
            </a:r>
          </a:p>
          <a:p>
            <a:pPr lvl="2"/>
            <a:r>
              <a:rPr lang="en-US" b="1" dirty="0" err="1" smtClean="0"/>
              <a:t>AssertionError</a:t>
            </a:r>
            <a:r>
              <a:rPr lang="he-IL" b="1" dirty="0" smtClean="0"/>
              <a:t> </a:t>
            </a:r>
            <a:r>
              <a:rPr lang="he-IL" dirty="0" smtClean="0"/>
              <a:t>– כאשר </a:t>
            </a:r>
            <a:r>
              <a:rPr lang="en-US" dirty="0" smtClean="0"/>
              <a:t>assert</a:t>
            </a:r>
            <a:r>
              <a:rPr lang="he-IL" dirty="0" smtClean="0"/>
              <a:t> נכשל</a:t>
            </a:r>
          </a:p>
          <a:p>
            <a:pPr lvl="2"/>
            <a:r>
              <a:rPr lang="en-US" b="1" dirty="0" err="1" smtClean="0"/>
              <a:t>IndexError</a:t>
            </a:r>
            <a:r>
              <a:rPr lang="he-IL" b="1" dirty="0"/>
              <a:t> </a:t>
            </a:r>
            <a:r>
              <a:rPr lang="he-IL" dirty="0" smtClean="0"/>
              <a:t>– כאשר אינדקס גולש מהטווח</a:t>
            </a:r>
          </a:p>
          <a:p>
            <a:pPr lvl="2"/>
            <a:r>
              <a:rPr lang="en-US" b="1" dirty="0" err="1" smtClean="0"/>
              <a:t>OSError</a:t>
            </a:r>
            <a:r>
              <a:rPr lang="he-IL" b="1" dirty="0" smtClean="0"/>
              <a:t> </a:t>
            </a:r>
            <a:r>
              <a:rPr lang="he-IL" dirty="0" smtClean="0"/>
              <a:t>– כל השגיאות הקשורות למערכת הפעלה</a:t>
            </a:r>
            <a:endParaRPr lang="en-US" dirty="0" smtClean="0"/>
          </a:p>
          <a:p>
            <a:pPr lvl="2"/>
            <a:r>
              <a:rPr lang="en-US" b="1" dirty="0" err="1" smtClean="0"/>
              <a:t>ValueError</a:t>
            </a:r>
            <a:r>
              <a:rPr lang="he-IL" b="1" dirty="0" smtClean="0"/>
              <a:t> </a:t>
            </a:r>
            <a:r>
              <a:rPr lang="he-IL" dirty="0" smtClean="0"/>
              <a:t>– שגיאות הקשורות לתוכן של המשתנים</a:t>
            </a:r>
            <a:endParaRPr lang="he-IL" dirty="0" smtClean="0"/>
          </a:p>
        </p:txBody>
      </p:sp>
      <p:sp>
        <p:nvSpPr>
          <p:cNvPr id="6" name="Vertical Scroll 5">
            <a:hlinkClick r:id="rId2"/>
          </p:cNvPr>
          <p:cNvSpPr/>
          <p:nvPr/>
        </p:nvSpPr>
        <p:spPr>
          <a:xfrm>
            <a:off x="370876" y="1965816"/>
            <a:ext cx="1310854" cy="2359535"/>
          </a:xfrm>
          <a:prstGeom prst="vertic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200" dirty="0" smtClean="0"/>
              <a:t>רשימת כל </a:t>
            </a:r>
            <a:r>
              <a:rPr lang="en-US" sz="1200" dirty="0" smtClean="0"/>
              <a:t>exceptions</a:t>
            </a:r>
            <a:endParaRPr lang="he-IL" sz="1200" dirty="0"/>
          </a:p>
        </p:txBody>
      </p:sp>
      <p:sp>
        <p:nvSpPr>
          <p:cNvPr id="8" name="Rectangle 7"/>
          <p:cNvSpPr/>
          <p:nvPr/>
        </p:nvSpPr>
        <p:spPr>
          <a:xfrm>
            <a:off x="2097367" y="2474635"/>
            <a:ext cx="5588710" cy="974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אם השתמשתם בסוג שגיאה לא נכון, התוכנה בכל זאת טיפול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36547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handling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21754"/>
            <a:ext cx="8547099" cy="3565898"/>
          </a:xfrm>
        </p:spPr>
        <p:txBody>
          <a:bodyPr>
            <a:normAutofit/>
          </a:bodyPr>
          <a:lstStyle/>
          <a:p>
            <a:r>
              <a:rPr lang="he-IL" dirty="0" smtClean="0"/>
              <a:t>איך להחליט במה להשתמש?</a:t>
            </a:r>
            <a:endParaRPr lang="he-IL" dirty="0" smtClean="0"/>
          </a:p>
          <a:p>
            <a:pPr lvl="1"/>
            <a:r>
              <a:rPr lang="he-IL" dirty="0" smtClean="0"/>
              <a:t>בוחרים סוג שגיאה לפי תוכן של הפונקציה</a:t>
            </a:r>
          </a:p>
          <a:p>
            <a:pPr lvl="1"/>
            <a:r>
              <a:rPr lang="he-IL" dirty="0" smtClean="0"/>
              <a:t>מנסים יוצרים שגיאות בכוונה ורואים האם </a:t>
            </a:r>
            <a:r>
              <a:rPr lang="en-US" dirty="0" smtClean="0"/>
              <a:t>except</a:t>
            </a:r>
            <a:r>
              <a:rPr lang="he-IL" dirty="0" smtClean="0"/>
              <a:t> מספיק אינפורמטיבי</a:t>
            </a:r>
          </a:p>
          <a:p>
            <a:pPr lvl="1"/>
            <a:r>
              <a:rPr lang="he-IL" dirty="0" smtClean="0"/>
              <a:t>לא לפחד לנסות מספר של סוגי שגיאות, ולבחור הכי מתאימה</a:t>
            </a:r>
          </a:p>
          <a:p>
            <a:pPr lvl="1"/>
            <a:r>
              <a:rPr lang="he-IL" dirty="0" smtClean="0"/>
              <a:t>מוודים שבטוח תופסים את השגיאה ואם לא בטוחים מוסיפים </a:t>
            </a:r>
            <a:r>
              <a:rPr lang="en-US" dirty="0" smtClean="0"/>
              <a:t>except </a:t>
            </a:r>
            <a:r>
              <a:rPr lang="he-IL" dirty="0" smtClean="0"/>
              <a:t> כללי</a:t>
            </a:r>
            <a:endParaRPr lang="he-IL" dirty="0" smtClean="0"/>
          </a:p>
        </p:txBody>
      </p:sp>
    </p:spTree>
    <p:extLst>
      <p:ext uri="{BB962C8B-B14F-4D97-AF65-F5344CB8AC3E}">
        <p14:creationId xmlns:p14="http://schemas.microsoft.com/office/powerpoint/2010/main" val="890127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- Error handling</a:t>
            </a:r>
            <a:r>
              <a:rPr lang="he-IL" dirty="0"/>
              <a:t>תרגול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17</a:t>
            </a:fld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21754"/>
            <a:ext cx="8547099" cy="3565898"/>
          </a:xfrm>
        </p:spPr>
        <p:txBody>
          <a:bodyPr>
            <a:normAutofit/>
          </a:bodyPr>
          <a:lstStyle/>
          <a:p>
            <a:r>
              <a:rPr lang="he-IL" dirty="0" smtClean="0"/>
              <a:t>בוא ננסה לתקן את הפונקציות הבאות</a:t>
            </a:r>
          </a:p>
          <a:p>
            <a:endParaRPr lang="he-IL" dirty="0"/>
          </a:p>
          <a:p>
            <a:endParaRPr lang="he-IL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62" y="1794963"/>
            <a:ext cx="798195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739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- Error handling</a:t>
            </a:r>
            <a:r>
              <a:rPr lang="he-IL" dirty="0" smtClean="0"/>
              <a:t>תרגול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18</a:t>
            </a:fld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21754"/>
            <a:ext cx="8547099" cy="3565898"/>
          </a:xfrm>
        </p:spPr>
        <p:txBody>
          <a:bodyPr>
            <a:normAutofit/>
          </a:bodyPr>
          <a:lstStyle/>
          <a:p>
            <a:r>
              <a:rPr lang="he-IL" dirty="0" smtClean="0"/>
              <a:t>בוא ננסה לתקן את הפונקציות הבאות</a:t>
            </a:r>
          </a:p>
          <a:p>
            <a:endParaRPr lang="he-IL" dirty="0"/>
          </a:p>
          <a:p>
            <a:endParaRPr lang="he-IL" dirty="0" smtClean="0"/>
          </a:p>
          <a:p>
            <a:pPr marL="0" indent="0">
              <a:buNone/>
            </a:pPr>
            <a:endParaRPr lang="he-IL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11" y="1542550"/>
            <a:ext cx="7991475" cy="123901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11" y="3202362"/>
            <a:ext cx="7972425" cy="1333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9913" y="2843087"/>
            <a:ext cx="662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he-IL" dirty="0"/>
              <a:t>תפסנו את השגיאה הכללית, האם ניתן לעשות את זה אחרת?</a:t>
            </a:r>
          </a:p>
        </p:txBody>
      </p:sp>
    </p:spTree>
    <p:extLst>
      <p:ext uri="{BB962C8B-B14F-4D97-AF65-F5344CB8AC3E}">
        <p14:creationId xmlns:p14="http://schemas.microsoft.com/office/powerpoint/2010/main" val="1977762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- Error handling</a:t>
            </a:r>
            <a:r>
              <a:rPr lang="he-IL" dirty="0" smtClean="0"/>
              <a:t>תרגול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19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13213" y="956383"/>
            <a:ext cx="8638686" cy="36120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r>
              <a:rPr lang="he-IL" dirty="0" smtClean="0"/>
              <a:t>כדי בטוח לתפוס את השגיאה נייחד את השיטות</a:t>
            </a:r>
            <a:endParaRPr lang="he-IL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93" y="2192582"/>
            <a:ext cx="801052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17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handling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20</a:t>
            </a:fld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21754"/>
            <a:ext cx="8547099" cy="3565898"/>
          </a:xfrm>
        </p:spPr>
        <p:txBody>
          <a:bodyPr>
            <a:normAutofit/>
          </a:bodyPr>
          <a:lstStyle/>
          <a:p>
            <a:r>
              <a:rPr lang="he-IL" dirty="0" smtClean="0"/>
              <a:t>כאשר למדנו לתפוס תקלות נלמד שיטה אחרונה – </a:t>
            </a:r>
            <a:r>
              <a:rPr lang="en-US" dirty="0" smtClean="0"/>
              <a:t>finally</a:t>
            </a:r>
          </a:p>
          <a:p>
            <a:pPr lvl="1"/>
            <a:r>
              <a:rPr lang="he-IL" dirty="0" smtClean="0"/>
              <a:t>בשיטה זו משתמשים כאשר רוצים שהקוד שלנו בטוח יכנס לבלוק מסוים, גם אם ייפול על שגיאה לא יודעה</a:t>
            </a:r>
          </a:p>
          <a:p>
            <a:pPr lvl="1"/>
            <a:endParaRPr lang="he-IL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36" y="2427276"/>
            <a:ext cx="7972425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92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21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35219" y="1739209"/>
            <a:ext cx="7962436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1" cap="none" spc="0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חשוב לזכור שלא תמיד צריך</a:t>
            </a:r>
          </a:p>
          <a:p>
            <a:pPr algn="ctr"/>
            <a:r>
              <a:rPr lang="he-IL" sz="54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לתפוס את כל השגיאות</a:t>
            </a:r>
            <a:endParaRPr lang="en-US" sz="54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45363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תרגול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22</a:t>
            </a:fld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21754"/>
            <a:ext cx="8547099" cy="3565898"/>
          </a:xfrm>
        </p:spPr>
        <p:txBody>
          <a:bodyPr>
            <a:normAutofit/>
          </a:bodyPr>
          <a:lstStyle/>
          <a:p>
            <a:r>
              <a:rPr lang="he-IL" dirty="0" smtClean="0"/>
              <a:t>נא לסדר את הפונקציה הבאה כדי שלא טיפול בזמן ריצה</a:t>
            </a:r>
          </a:p>
          <a:p>
            <a:pPr lvl="1"/>
            <a:r>
              <a:rPr lang="he-IL" dirty="0" smtClean="0"/>
              <a:t>מכניסים אותיות – נפילה</a:t>
            </a:r>
          </a:p>
          <a:p>
            <a:pPr lvl="1"/>
            <a:r>
              <a:rPr lang="he-IL" dirty="0" smtClean="0"/>
              <a:t>מכניסים אותיות ומספרים – נפילה</a:t>
            </a:r>
          </a:p>
          <a:p>
            <a:pPr lvl="1"/>
            <a:r>
              <a:rPr lang="he-IL" dirty="0" smtClean="0"/>
              <a:t>מכניסים רווח - נפילה</a:t>
            </a:r>
            <a:endParaRPr lang="he-IL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263" y="1592207"/>
            <a:ext cx="4052463" cy="29867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637" y="623887"/>
            <a:ext cx="5800725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145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תרגול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302" y="868871"/>
            <a:ext cx="5800725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88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Logging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24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553841" y="2078182"/>
            <a:ext cx="5912521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cap="none" spc="0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Logging</a:t>
            </a:r>
            <a:endParaRPr lang="en-US" sz="72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0535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- Logging</a:t>
            </a:r>
            <a:r>
              <a:rPr lang="he-IL" dirty="0" smtClean="0"/>
              <a:t>למה זה טוב</a:t>
            </a:r>
            <a:endParaRPr lang="en-GB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איך אני יודעה מה התוכנה שלי עושה?</a:t>
            </a:r>
          </a:p>
          <a:p>
            <a:r>
              <a:rPr lang="he-IL" dirty="0" smtClean="0"/>
              <a:t>איך אני מבקר תהליך בלי לעצור אותו?</a:t>
            </a:r>
          </a:p>
          <a:p>
            <a:r>
              <a:rPr lang="he-IL" dirty="0" smtClean="0"/>
              <a:t>איך אני מראה דרך שהתוכנה עשתה?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25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553841" y="2078182"/>
            <a:ext cx="5912521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7200" b="1" cap="none" spc="0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מוסיפים לוגים!</a:t>
            </a:r>
            <a:endParaRPr lang="en-US" sz="72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1435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סוגים של לוגים</a:t>
            </a:r>
            <a:endParaRPr lang="en-GB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נהוג לחלק לוגים למספר רמות:</a:t>
            </a:r>
          </a:p>
          <a:p>
            <a:pPr lvl="1"/>
            <a:r>
              <a:rPr lang="en-US" dirty="0" smtClean="0"/>
              <a:t>Info </a:t>
            </a:r>
            <a:r>
              <a:rPr lang="he-IL" dirty="0" smtClean="0"/>
              <a:t> - מידע שמודפס קבוע ובדרך כלל נראה למשתמש</a:t>
            </a:r>
          </a:p>
          <a:p>
            <a:pPr lvl="1"/>
            <a:r>
              <a:rPr lang="en-US" dirty="0" smtClean="0"/>
              <a:t>Debug</a:t>
            </a:r>
            <a:r>
              <a:rPr lang="he-IL" dirty="0" smtClean="0"/>
              <a:t> – מידע יותר רחב/מפורט שרוצים לשמור/להראות במקרים מסוימים</a:t>
            </a:r>
          </a:p>
          <a:p>
            <a:pPr lvl="1"/>
            <a:r>
              <a:rPr lang="en-US" dirty="0" smtClean="0"/>
              <a:t>Warning</a:t>
            </a:r>
            <a:r>
              <a:rPr lang="he-IL" dirty="0" smtClean="0"/>
              <a:t> – הזהרות</a:t>
            </a:r>
          </a:p>
          <a:p>
            <a:pPr lvl="1"/>
            <a:r>
              <a:rPr lang="en-US" dirty="0" smtClean="0"/>
              <a:t>Error </a:t>
            </a:r>
            <a:r>
              <a:rPr lang="he-IL" dirty="0" smtClean="0"/>
              <a:t> - סוג דיווח כאשר יש שגיאה</a:t>
            </a:r>
          </a:p>
          <a:p>
            <a:pPr lvl="1"/>
            <a:endParaRPr lang="he-IL" dirty="0"/>
          </a:p>
          <a:p>
            <a:pPr marL="179388" lvl="1" indent="0">
              <a:buNone/>
            </a:pPr>
            <a:r>
              <a:rPr lang="he-IL" dirty="0" smtClean="0"/>
              <a:t>כמו כן ניתן להגדיר הרבה יותר רמות של דיווחים, למשל רמה מאוד נפוצה - </a:t>
            </a:r>
            <a:r>
              <a:rPr lang="en-US" dirty="0" smtClean="0"/>
              <a:t>FATAL</a:t>
            </a:r>
            <a:endParaRPr lang="he-IL" dirty="0" smtClean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72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דוגמא למימוש</a:t>
            </a:r>
            <a:endParaRPr lang="en-GB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US" sz="1200" dirty="0"/>
              <a:t>i</a:t>
            </a:r>
            <a:r>
              <a:rPr lang="en-US" sz="1200" dirty="0" smtClean="0"/>
              <a:t>mport logging</a:t>
            </a:r>
          </a:p>
          <a:p>
            <a:pPr marL="0" indent="0" algn="l" rtl="0">
              <a:buNone/>
            </a:pPr>
            <a:endParaRPr lang="en-US" sz="1200" dirty="0"/>
          </a:p>
          <a:p>
            <a:pPr marL="0" indent="0" algn="l" rtl="0">
              <a:spcBef>
                <a:spcPts val="600"/>
              </a:spcBef>
              <a:buNone/>
            </a:pPr>
            <a:r>
              <a:rPr lang="en-US" sz="1050" dirty="0" smtClean="0"/>
              <a:t>logger = </a:t>
            </a:r>
            <a:r>
              <a:rPr lang="en-US" sz="1050" dirty="0" err="1" smtClean="0"/>
              <a:t>logging.getLogger</a:t>
            </a:r>
            <a:r>
              <a:rPr lang="en-US" sz="1050" dirty="0" smtClean="0"/>
              <a:t>(‘</a:t>
            </a:r>
            <a:r>
              <a:rPr lang="en-US" sz="1050" dirty="0" err="1" smtClean="0"/>
              <a:t>myLogger</a:t>
            </a:r>
            <a:r>
              <a:rPr lang="en-US" sz="1050" dirty="0" smtClean="0"/>
              <a:t>’)</a:t>
            </a:r>
          </a:p>
          <a:p>
            <a:pPr marL="0" indent="0" algn="l" rtl="0">
              <a:spcBef>
                <a:spcPts val="600"/>
              </a:spcBef>
              <a:buNone/>
            </a:pPr>
            <a:r>
              <a:rPr lang="en-US" sz="1050" dirty="0" err="1" smtClean="0"/>
              <a:t>logger.setLevel</a:t>
            </a:r>
            <a:r>
              <a:rPr lang="en-US" sz="1050" dirty="0" smtClean="0"/>
              <a:t>(</a:t>
            </a:r>
            <a:r>
              <a:rPr lang="en-US" sz="1050" dirty="0" err="1" smtClean="0"/>
              <a:t>logging.DEBUG</a:t>
            </a:r>
            <a:r>
              <a:rPr lang="en-US" sz="1050" dirty="0" smtClean="0"/>
              <a:t>)</a:t>
            </a:r>
          </a:p>
          <a:p>
            <a:pPr marL="0" indent="0" algn="l" rtl="0">
              <a:spcBef>
                <a:spcPts val="600"/>
              </a:spcBef>
              <a:buNone/>
            </a:pPr>
            <a:r>
              <a:rPr lang="en-US" sz="1050" dirty="0" err="1" smtClean="0"/>
              <a:t>fh</a:t>
            </a:r>
            <a:r>
              <a:rPr lang="en-US" sz="1050" dirty="0"/>
              <a:t> </a:t>
            </a:r>
            <a:r>
              <a:rPr lang="en-US" sz="1050" dirty="0" smtClean="0"/>
              <a:t>= </a:t>
            </a:r>
            <a:r>
              <a:rPr lang="en-US" sz="1050" dirty="0" err="1" smtClean="0"/>
              <a:t>logging.FileHandler</a:t>
            </a:r>
            <a:r>
              <a:rPr lang="en-US" sz="1050" dirty="0" smtClean="0"/>
              <a:t>(‘</a:t>
            </a:r>
            <a:r>
              <a:rPr lang="en-US" sz="1050" dirty="0" err="1" smtClean="0"/>
              <a:t>my_log_file_path</a:t>
            </a:r>
            <a:r>
              <a:rPr lang="en-US" sz="1050" dirty="0" smtClean="0"/>
              <a:t>’)</a:t>
            </a:r>
          </a:p>
          <a:p>
            <a:pPr marL="0" indent="0" algn="l" rtl="0">
              <a:spcBef>
                <a:spcPts val="600"/>
              </a:spcBef>
              <a:buNone/>
            </a:pPr>
            <a:r>
              <a:rPr lang="en-US" sz="1050" dirty="0" err="1" smtClean="0"/>
              <a:t>fh.setLevel</a:t>
            </a:r>
            <a:r>
              <a:rPr lang="en-US" sz="1050" dirty="0" smtClean="0"/>
              <a:t>(</a:t>
            </a:r>
            <a:r>
              <a:rPr lang="en-US" sz="1050" dirty="0" err="1" smtClean="0"/>
              <a:t>logging.DEBUG</a:t>
            </a:r>
            <a:r>
              <a:rPr lang="en-US" sz="1050" dirty="0" smtClean="0"/>
              <a:t>)</a:t>
            </a:r>
          </a:p>
          <a:p>
            <a:pPr marL="0" indent="0" algn="l" rtl="0">
              <a:spcBef>
                <a:spcPts val="600"/>
              </a:spcBef>
              <a:buNone/>
            </a:pPr>
            <a:r>
              <a:rPr lang="en-US" sz="1050" dirty="0" err="1" smtClean="0"/>
              <a:t>ch</a:t>
            </a:r>
            <a:r>
              <a:rPr lang="en-US" sz="1050" dirty="0" smtClean="0"/>
              <a:t> = </a:t>
            </a:r>
            <a:r>
              <a:rPr lang="en-US" sz="1050" dirty="0" err="1" smtClean="0"/>
              <a:t>logging.StreamHandler</a:t>
            </a:r>
            <a:r>
              <a:rPr lang="en-US" sz="1050" dirty="0" smtClean="0"/>
              <a:t>()</a:t>
            </a:r>
          </a:p>
          <a:p>
            <a:pPr marL="0" indent="0" algn="l" rtl="0">
              <a:spcBef>
                <a:spcPts val="600"/>
              </a:spcBef>
              <a:buNone/>
            </a:pPr>
            <a:r>
              <a:rPr lang="en-US" sz="1050" dirty="0" err="1" smtClean="0"/>
              <a:t>ch.setLevel</a:t>
            </a:r>
            <a:r>
              <a:rPr lang="en-US" sz="1050" dirty="0" smtClean="0"/>
              <a:t>(logging.INFO)</a:t>
            </a:r>
          </a:p>
          <a:p>
            <a:pPr marL="0" indent="0" algn="l" rtl="0">
              <a:spcBef>
                <a:spcPts val="600"/>
              </a:spcBef>
              <a:buNone/>
            </a:pPr>
            <a:r>
              <a:rPr lang="en-US" sz="1050" dirty="0" smtClean="0"/>
              <a:t>formatter = </a:t>
            </a:r>
            <a:r>
              <a:rPr lang="en-US" sz="1050" dirty="0" err="1" smtClean="0"/>
              <a:t>logging.Formatter</a:t>
            </a:r>
            <a:r>
              <a:rPr lang="en-US" sz="1050" dirty="0" smtClean="0"/>
              <a:t>(‘%(</a:t>
            </a:r>
            <a:r>
              <a:rPr lang="en-US" sz="1050" dirty="0" err="1" smtClean="0"/>
              <a:t>asctime</a:t>
            </a:r>
            <a:r>
              <a:rPr lang="en-US" sz="1050" dirty="0" smtClean="0"/>
              <a:t>)s-%(</a:t>
            </a:r>
            <a:r>
              <a:rPr lang="en-US" sz="1050" dirty="0" err="1" smtClean="0"/>
              <a:t>levelname</a:t>
            </a:r>
            <a:r>
              <a:rPr lang="en-US" sz="1050" dirty="0" smtClean="0"/>
              <a:t>)s-%(message)s’)</a:t>
            </a:r>
          </a:p>
          <a:p>
            <a:pPr marL="0" indent="0" algn="l" rtl="0">
              <a:spcBef>
                <a:spcPts val="600"/>
              </a:spcBef>
              <a:buNone/>
            </a:pPr>
            <a:r>
              <a:rPr lang="en-US" sz="1050" dirty="0" err="1" smtClean="0"/>
              <a:t>fh.setFormatter</a:t>
            </a:r>
            <a:r>
              <a:rPr lang="en-US" sz="1050" dirty="0" smtClean="0"/>
              <a:t>(formatter)</a:t>
            </a:r>
          </a:p>
          <a:p>
            <a:pPr marL="0" indent="0" algn="l" rtl="0">
              <a:spcBef>
                <a:spcPts val="600"/>
              </a:spcBef>
              <a:buNone/>
            </a:pPr>
            <a:r>
              <a:rPr lang="en-US" sz="1050" dirty="0" err="1" smtClean="0"/>
              <a:t>ch.setFormatter</a:t>
            </a:r>
            <a:r>
              <a:rPr lang="en-US" sz="1050" dirty="0" smtClean="0"/>
              <a:t>(formatter)</a:t>
            </a:r>
          </a:p>
          <a:p>
            <a:pPr marL="0" indent="0" algn="l" rtl="0">
              <a:spcBef>
                <a:spcPts val="600"/>
              </a:spcBef>
              <a:buNone/>
            </a:pPr>
            <a:r>
              <a:rPr lang="en-US" sz="1050" dirty="0" err="1" smtClean="0"/>
              <a:t>logger.addHandler</a:t>
            </a:r>
            <a:r>
              <a:rPr lang="en-US" sz="1050" dirty="0" smtClean="0"/>
              <a:t>(</a:t>
            </a:r>
            <a:r>
              <a:rPr lang="en-US" sz="1050" dirty="0" err="1" smtClean="0"/>
              <a:t>fh</a:t>
            </a:r>
            <a:r>
              <a:rPr lang="en-US" sz="1050" dirty="0" smtClean="0"/>
              <a:t>)</a:t>
            </a:r>
          </a:p>
          <a:p>
            <a:pPr marL="0" indent="0" algn="l" rtl="0">
              <a:spcBef>
                <a:spcPts val="600"/>
              </a:spcBef>
              <a:buNone/>
            </a:pPr>
            <a:r>
              <a:rPr lang="en-US" sz="1050" dirty="0" err="1" smtClean="0"/>
              <a:t>logger.addHandler</a:t>
            </a:r>
            <a:r>
              <a:rPr lang="en-US" sz="1050" dirty="0" smtClean="0"/>
              <a:t>(</a:t>
            </a:r>
            <a:r>
              <a:rPr lang="en-US" sz="1050" dirty="0" err="1" smtClean="0"/>
              <a:t>ch</a:t>
            </a:r>
            <a:r>
              <a:rPr lang="en-US" sz="1050" dirty="0" smtClean="0"/>
              <a:t>)</a:t>
            </a:r>
            <a:endParaRPr lang="en-US" sz="1050" dirty="0"/>
          </a:p>
          <a:p>
            <a:pPr marL="0" indent="0" algn="l" rtl="0">
              <a:spcBef>
                <a:spcPts val="600"/>
              </a:spcBef>
              <a:buNone/>
            </a:pPr>
            <a:endParaRPr lang="en-US" sz="1400" dirty="0" smtClean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27</a:t>
            </a:fld>
            <a:endParaRPr lang="en-US"/>
          </a:p>
        </p:txBody>
      </p:sp>
      <p:sp>
        <p:nvSpPr>
          <p:cNvPr id="3" name="Line Callout 2 2"/>
          <p:cNvSpPr/>
          <p:nvPr/>
        </p:nvSpPr>
        <p:spPr>
          <a:xfrm>
            <a:off x="1709992" y="1048683"/>
            <a:ext cx="1512788" cy="505158"/>
          </a:xfrm>
          <a:prstGeom prst="borderCallout2">
            <a:avLst>
              <a:gd name="adj1" fmla="val 17484"/>
              <a:gd name="adj2" fmla="val 121"/>
              <a:gd name="adj3" fmla="val 18750"/>
              <a:gd name="adj4" fmla="val -16667"/>
              <a:gd name="adj5" fmla="val 123893"/>
              <a:gd name="adj6" fmla="val -74987"/>
            </a:avLst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 smtClean="0"/>
              <a:t>מופע של </a:t>
            </a:r>
            <a:r>
              <a:rPr lang="he-IL" sz="1400" dirty="0" err="1" smtClean="0"/>
              <a:t>לוגר</a:t>
            </a:r>
            <a:endParaRPr lang="he-IL" sz="1400" dirty="0"/>
          </a:p>
        </p:txBody>
      </p:sp>
      <p:sp>
        <p:nvSpPr>
          <p:cNvPr id="6" name="Line Callout 2 5"/>
          <p:cNvSpPr/>
          <p:nvPr/>
        </p:nvSpPr>
        <p:spPr>
          <a:xfrm>
            <a:off x="3409839" y="1553841"/>
            <a:ext cx="1512788" cy="505158"/>
          </a:xfrm>
          <a:prstGeom prst="borderCallout2">
            <a:avLst>
              <a:gd name="adj1" fmla="val 17484"/>
              <a:gd name="adj2" fmla="val 121"/>
              <a:gd name="adj3" fmla="val 18750"/>
              <a:gd name="adj4" fmla="val -16667"/>
              <a:gd name="adj5" fmla="val 68197"/>
              <a:gd name="adj6" fmla="val -73719"/>
            </a:avLst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 smtClean="0"/>
              <a:t>הגדרה של רמת </a:t>
            </a:r>
            <a:r>
              <a:rPr lang="he-IL" sz="1400" dirty="0" err="1" smtClean="0"/>
              <a:t>הלוגר</a:t>
            </a:r>
            <a:endParaRPr lang="he-IL" sz="1400" dirty="0"/>
          </a:p>
        </p:txBody>
      </p:sp>
      <p:sp>
        <p:nvSpPr>
          <p:cNvPr id="7" name="Line Callout 2 6"/>
          <p:cNvSpPr/>
          <p:nvPr/>
        </p:nvSpPr>
        <p:spPr>
          <a:xfrm>
            <a:off x="3409839" y="2227724"/>
            <a:ext cx="1512788" cy="505158"/>
          </a:xfrm>
          <a:prstGeom prst="borderCallout2">
            <a:avLst>
              <a:gd name="adj1" fmla="val 17484"/>
              <a:gd name="adj2" fmla="val 121"/>
              <a:gd name="adj3" fmla="val 18750"/>
              <a:gd name="adj4" fmla="val -16667"/>
              <a:gd name="adj5" fmla="val 15032"/>
              <a:gd name="adj6" fmla="val -53852"/>
            </a:avLst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 smtClean="0"/>
              <a:t>אחראי על כתיבה לקובץ</a:t>
            </a:r>
            <a:endParaRPr lang="he-IL" sz="1400" dirty="0"/>
          </a:p>
        </p:txBody>
      </p:sp>
      <p:sp>
        <p:nvSpPr>
          <p:cNvPr id="8" name="Line Callout 2 7"/>
          <p:cNvSpPr/>
          <p:nvPr/>
        </p:nvSpPr>
        <p:spPr>
          <a:xfrm>
            <a:off x="5109685" y="2732882"/>
            <a:ext cx="1512788" cy="505158"/>
          </a:xfrm>
          <a:prstGeom prst="borderCallout2">
            <a:avLst>
              <a:gd name="adj1" fmla="val 17484"/>
              <a:gd name="adj2" fmla="val 121"/>
              <a:gd name="adj3" fmla="val 18750"/>
              <a:gd name="adj4" fmla="val -16667"/>
              <a:gd name="adj5" fmla="val -158"/>
              <a:gd name="adj6" fmla="val -199680"/>
            </a:avLst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 smtClean="0"/>
              <a:t>אחראי על כתיבה לקונסול</a:t>
            </a:r>
            <a:endParaRPr lang="he-IL" sz="1400" dirty="0"/>
          </a:p>
        </p:txBody>
      </p:sp>
      <p:sp>
        <p:nvSpPr>
          <p:cNvPr id="9" name="Line Callout 2 8"/>
          <p:cNvSpPr/>
          <p:nvPr/>
        </p:nvSpPr>
        <p:spPr>
          <a:xfrm>
            <a:off x="5338818" y="3446581"/>
            <a:ext cx="1512788" cy="505158"/>
          </a:xfrm>
          <a:prstGeom prst="borderCallout2">
            <a:avLst>
              <a:gd name="adj1" fmla="val 17484"/>
              <a:gd name="adj2" fmla="val 121"/>
              <a:gd name="adj3" fmla="val 18750"/>
              <a:gd name="adj4" fmla="val -16667"/>
              <a:gd name="adj5" fmla="val -48259"/>
              <a:gd name="adj6" fmla="val -197989"/>
            </a:avLst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 smtClean="0"/>
              <a:t>מבנה של תצוגה</a:t>
            </a:r>
            <a:endParaRPr lang="he-IL" sz="1400" dirty="0"/>
          </a:p>
        </p:txBody>
      </p:sp>
    </p:spTree>
    <p:extLst>
      <p:ext uri="{BB962C8B-B14F-4D97-AF65-F5344CB8AC3E}">
        <p14:creationId xmlns:p14="http://schemas.microsoft.com/office/powerpoint/2010/main" val="3455952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דוגמא למימוש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28</a:t>
            </a:fld>
            <a:endParaRPr lang="en-US"/>
          </a:p>
        </p:txBody>
      </p:sp>
      <p:sp>
        <p:nvSpPr>
          <p:cNvPr id="12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981076"/>
            <a:ext cx="8547099" cy="3503612"/>
          </a:xfrm>
        </p:spPr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he-IL" sz="1200" dirty="0" smtClean="0"/>
              <a:t>כתיבה ללוג היא פשוטה מאוד:</a:t>
            </a:r>
          </a:p>
          <a:p>
            <a:pPr marL="0" indent="0" algn="l" rtl="0">
              <a:buNone/>
            </a:pPr>
            <a:r>
              <a:rPr lang="en-US" sz="1200" dirty="0" smtClean="0"/>
              <a:t>logger.info(‘ This is my INFO message’)</a:t>
            </a:r>
          </a:p>
          <a:p>
            <a:pPr marL="0" indent="0" algn="l" rtl="0">
              <a:buNone/>
            </a:pPr>
            <a:r>
              <a:rPr lang="he-IL" sz="1200" dirty="0" smtClean="0"/>
              <a:t>פלט:</a:t>
            </a:r>
            <a:endParaRPr lang="en-US" sz="1200" dirty="0" smtClean="0"/>
          </a:p>
          <a:p>
            <a:pPr marL="0" indent="0" algn="l" rtl="0">
              <a:buNone/>
            </a:pPr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2019-02-12 16:13:39,914-INFO-This is my INFO message</a:t>
            </a:r>
          </a:p>
          <a:p>
            <a:pPr marL="0" indent="0" algn="l" rtl="0">
              <a:buNone/>
            </a:pPr>
            <a:endParaRPr lang="en-US" sz="1200" dirty="0" smtClean="0"/>
          </a:p>
          <a:p>
            <a:pPr marL="0" indent="0" algn="l" rtl="0">
              <a:buNone/>
            </a:pPr>
            <a:r>
              <a:rPr lang="en-US" sz="1200" dirty="0" err="1" smtClean="0"/>
              <a:t>logger.debug</a:t>
            </a:r>
            <a:r>
              <a:rPr lang="en-US" sz="1200" dirty="0" smtClean="0"/>
              <a:t>(‘This is my DEBUG message’)</a:t>
            </a:r>
          </a:p>
          <a:p>
            <a:pPr marL="0" indent="0" algn="l" rtl="0">
              <a:buNone/>
            </a:pPr>
            <a:r>
              <a:rPr lang="he-IL" sz="1200" dirty="0" smtClean="0"/>
              <a:t>פלט:</a:t>
            </a:r>
            <a:endParaRPr lang="en-US" sz="1200" dirty="0" smtClean="0"/>
          </a:p>
          <a:p>
            <a:pPr marL="0" indent="0" algn="l" rtl="0">
              <a:buNone/>
            </a:pPr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2019-02-12 16:13:39,923-DEBUG-This is my DEBUG message</a:t>
            </a:r>
          </a:p>
          <a:p>
            <a:pPr marL="0" indent="0" algn="l" rtl="0">
              <a:buNone/>
            </a:pPr>
            <a:endParaRPr lang="en-US" sz="1200" dirty="0"/>
          </a:p>
          <a:p>
            <a:pPr marL="0" indent="0" algn="l" rtl="0">
              <a:buNone/>
            </a:pPr>
            <a:endParaRPr lang="he-IL" sz="12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5524766" y="1767588"/>
            <a:ext cx="3443675" cy="6463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dirty="0" smtClean="0"/>
              <a:t>ניתן </a:t>
            </a:r>
            <a:r>
              <a:rPr lang="he-IL" dirty="0" smtClean="0"/>
              <a:t>לקרוא </a:t>
            </a:r>
            <a:r>
              <a:rPr lang="he-IL" dirty="0" smtClean="0"/>
              <a:t>ולקחת דוגמא</a:t>
            </a:r>
          </a:p>
          <a:p>
            <a:pPr algn="r"/>
            <a:r>
              <a:rPr lang="he-IL" dirty="0" smtClean="0"/>
              <a:t> מפרויקט מו"פ </a:t>
            </a:r>
            <a:r>
              <a:rPr lang="he-IL" dirty="0" err="1" smtClean="0"/>
              <a:t>פייתון</a:t>
            </a:r>
            <a:r>
              <a:rPr lang="he-IL" dirty="0" smtClean="0"/>
              <a:t> של התחום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43889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תרגול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29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נוסיף </a:t>
            </a:r>
            <a:r>
              <a:rPr lang="he-IL" dirty="0" err="1" smtClean="0"/>
              <a:t>לוגר</a:t>
            </a:r>
            <a:r>
              <a:rPr lang="he-IL" dirty="0" smtClean="0"/>
              <a:t> לפרויקט שלנו.</a:t>
            </a:r>
          </a:p>
          <a:p>
            <a:pPr lvl="1"/>
            <a:r>
              <a:rPr lang="he-IL" dirty="0" smtClean="0"/>
              <a:t>מומלץ לקחת את </a:t>
            </a:r>
            <a:r>
              <a:rPr lang="he-IL" dirty="0" err="1" smtClean="0"/>
              <a:t>הלוגר</a:t>
            </a:r>
            <a:r>
              <a:rPr lang="he-IL" dirty="0" smtClean="0"/>
              <a:t> מפרויקט מו"פ</a:t>
            </a:r>
            <a:endParaRPr lang="he-IL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89" y="1696142"/>
            <a:ext cx="3640915" cy="278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684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תרגול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30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ננסה להדפיס 2 שורות ללוג:</a:t>
            </a:r>
            <a:endParaRPr lang="he-IL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29" y="1375806"/>
            <a:ext cx="4572000" cy="876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642" y="2329369"/>
            <a:ext cx="3814707" cy="7075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29" y="3186559"/>
            <a:ext cx="4336939" cy="114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744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תרגול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31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ניקח דוגמא מהתרגיל הקודם ונוסיף לה לוגים.</a:t>
            </a:r>
          </a:p>
          <a:p>
            <a:pPr lvl="1"/>
            <a:r>
              <a:rPr lang="he-IL" dirty="0" smtClean="0"/>
              <a:t>חשוב לזכור להוסיף לוגים ברמות מתאימות להודעה.</a:t>
            </a:r>
            <a:endParaRPr lang="he-IL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640" y="1702120"/>
            <a:ext cx="4294343" cy="288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1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he-IL" smtClean="0"/>
              <a:t>תודה רבה</a:t>
            </a:r>
            <a:endParaRPr lang="en-GB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smtClean="0"/>
              <a:t>www.rafael.co.il</a:t>
            </a:r>
            <a:endParaRPr lang="en-GB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41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7.01.25"/>
  <p:tag name="AS_TITLE" val="Aspose.Slides for .NET 4.0"/>
  <p:tag name="AS_VERSION" val="17.1"/>
</p:tagLst>
</file>

<file path=ppt/theme/theme1.xml><?xml version="1.0" encoding="utf-8"?>
<a:theme xmlns:a="http://schemas.openxmlformats.org/drawingml/2006/main" name="4_Office Theme">
  <a:themeElements>
    <a:clrScheme name="RAFAEL">
      <a:dk1>
        <a:srgbClr val="00395E"/>
      </a:dk1>
      <a:lt1>
        <a:srgbClr val="FFFFFF"/>
      </a:lt1>
      <a:dk2>
        <a:srgbClr val="656565"/>
      </a:dk2>
      <a:lt2>
        <a:srgbClr val="D1D8DD"/>
      </a:lt2>
      <a:accent1>
        <a:srgbClr val="0061A1"/>
      </a:accent1>
      <a:accent2>
        <a:srgbClr val="57B7E0"/>
      </a:accent2>
      <a:accent3>
        <a:srgbClr val="4B8B2D"/>
      </a:accent3>
      <a:accent4>
        <a:srgbClr val="94B114"/>
      </a:accent4>
      <a:accent5>
        <a:srgbClr val="463361"/>
      </a:accent5>
      <a:accent6>
        <a:srgbClr val="8E7CA7"/>
      </a:accent6>
      <a:hlink>
        <a:srgbClr val="0061A1"/>
      </a:hlink>
      <a:folHlink>
        <a:srgbClr val="0061A1"/>
      </a:folHlink>
    </a:clrScheme>
    <a:fontScheme name="Office קלאסי 2">
      <a:majorFont>
        <a:latin typeface="Arial"/>
        <a:ea typeface="Arial"/>
        <a:cs typeface="Arial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37499</TotalTime>
  <Words>704</Words>
  <Application>Microsoft Office PowerPoint</Application>
  <PresentationFormat>On-screen Show (16:9)</PresentationFormat>
  <Paragraphs>165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4_Office Theme</vt:lpstr>
      <vt:lpstr>Custom Design</vt:lpstr>
      <vt:lpstr>קורס פייתון </vt:lpstr>
      <vt:lpstr>Debug, Error Handling, Logging</vt:lpstr>
      <vt:lpstr>Debugging </vt:lpstr>
      <vt:lpstr>Debugging </vt:lpstr>
      <vt:lpstr>Debugging </vt:lpstr>
      <vt:lpstr>Debugging </vt:lpstr>
      <vt:lpstr>תרגול</vt:lpstr>
      <vt:lpstr>Error handling</vt:lpstr>
      <vt:lpstr>Error handling</vt:lpstr>
      <vt:lpstr>Error handling</vt:lpstr>
      <vt:lpstr>Error handling</vt:lpstr>
      <vt:lpstr>Error handling</vt:lpstr>
      <vt:lpstr>Error handling</vt:lpstr>
      <vt:lpstr>Error handling</vt:lpstr>
      <vt:lpstr>Error handling</vt:lpstr>
      <vt:lpstr>Error handling</vt:lpstr>
      <vt:lpstr> - Error handlingתרגול</vt:lpstr>
      <vt:lpstr> - Error handlingתרגול</vt:lpstr>
      <vt:lpstr> - Error handlingתרגול</vt:lpstr>
      <vt:lpstr>Error handling</vt:lpstr>
      <vt:lpstr>Error handling</vt:lpstr>
      <vt:lpstr>תרגול</vt:lpstr>
      <vt:lpstr>תרגול</vt:lpstr>
      <vt:lpstr>Logging</vt:lpstr>
      <vt:lpstr> - Loggingלמה זה טוב</vt:lpstr>
      <vt:lpstr>סוגים של לוגים</vt:lpstr>
      <vt:lpstr>דוגמא למימוש</vt:lpstr>
      <vt:lpstr>דוגמא למימוש</vt:lpstr>
      <vt:lpstr>תרגול</vt:lpstr>
      <vt:lpstr>תרגול</vt:lpstr>
      <vt:lpstr>תרגול</vt:lpstr>
      <vt:lpstr>תודה רבה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קורס פייתון </dc:title>
  <cp:lastModifiedBy>ADAM ZAFT</cp:lastModifiedBy>
  <cp:revision>456</cp:revision>
  <dcterms:created xsi:type="dcterms:W3CDTF">2013-04-22T09:47:17Z</dcterms:created>
  <dcterms:modified xsi:type="dcterms:W3CDTF">2019-03-14T14:32:45Z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1727695338</vt:i4>
  </property>
  <property fmtid="{D5CDD505-2E9C-101B-9397-08002B2CF9AE}" pid="3" name="_NewReviewCycle">
    <vt:lpwstr/>
  </property>
  <property fmtid="{D5CDD505-2E9C-101B-9397-08002B2CF9AE}" pid="4" name="_EmailSubject">
    <vt:lpwstr>פורמט מצגת לקורס PYTHON</vt:lpwstr>
  </property>
  <property fmtid="{D5CDD505-2E9C-101B-9397-08002B2CF9AE}" pid="5" name="_AuthorEmail">
    <vt:lpwstr>DARIAE@rafael.co.il</vt:lpwstr>
  </property>
  <property fmtid="{D5CDD505-2E9C-101B-9397-08002B2CF9AE}" pid="6" name="_AuthorEmailDisplayName">
    <vt:lpwstr>DARIA Gohler</vt:lpwstr>
  </property>
</Properties>
</file>